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nter" panose="020B0604020202020204" charset="0"/>
      <p:regular r:id="rId15"/>
      <p:bold r:id="rId16"/>
      <p:italic r:id="rId17"/>
      <p:boldItalic r:id="rId18"/>
    </p:embeddedFont>
    <p:embeddedFont>
      <p:font typeface="Inter Medium" panose="020B0604020202020204" charset="0"/>
      <p:regular r:id="rId19"/>
      <p:bold r:id="rId20"/>
      <p:italic r:id="rId21"/>
      <p:boldItalic r:id="rId22"/>
    </p:embeddedFont>
    <p:embeddedFont>
      <p:font typeface="Inter SemiBold" panose="020B0604020202020204" charset="0"/>
      <p:regular r:id="rId23"/>
      <p:bold r:id="rId24"/>
      <p:italic r:id="rId25"/>
      <p:boldItalic r:id="rId26"/>
    </p:embeddedFont>
    <p:embeddedFont>
      <p:font typeface="Poppins" panose="020B0502040204020203" pitchFamily="2" charset="0"/>
      <p:regular r:id="rId27"/>
      <p:bold r:id="rId28"/>
      <p:italic r:id="rId29"/>
      <p:boldItalic r:id="rId30"/>
    </p:embeddedFont>
    <p:embeddedFont>
      <p:font typeface="Poppins SemiBold" panose="020B0502040204020203"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5.jp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9.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635344" y="1241165"/>
            <a:ext cx="11104461" cy="1477328"/>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000" b="1" dirty="0" err="1">
                <a:solidFill>
                  <a:schemeClr val="bg1"/>
                </a:solidFill>
                <a:latin typeface="Times New Roman"/>
                <a:ea typeface="Times New Roman"/>
                <a:cs typeface="Times New Roman"/>
                <a:sym typeface="Times New Roman"/>
              </a:rPr>
              <a:t>Hệ</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thống</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kiểm</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soát</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ra</a:t>
            </a:r>
            <a:r>
              <a:rPr lang="en-US" sz="4000" b="1" dirty="0">
                <a:solidFill>
                  <a:schemeClr val="bg1"/>
                </a:solidFill>
                <a:latin typeface="Times New Roman"/>
                <a:ea typeface="Times New Roman"/>
                <a:cs typeface="Times New Roman"/>
                <a:sym typeface="Times New Roman"/>
              </a:rPr>
              <a:t>/</a:t>
            </a:r>
            <a:r>
              <a:rPr lang="en-US" sz="4000" b="1" dirty="0" err="1">
                <a:solidFill>
                  <a:schemeClr val="bg1"/>
                </a:solidFill>
                <a:latin typeface="Times New Roman"/>
                <a:ea typeface="Times New Roman"/>
                <a:cs typeface="Times New Roman"/>
                <a:sym typeface="Times New Roman"/>
              </a:rPr>
              <a:t>vào</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khu</a:t>
            </a:r>
            <a:r>
              <a:rPr lang="en-US" sz="4000" b="1" dirty="0">
                <a:solidFill>
                  <a:schemeClr val="bg1"/>
                </a:solidFill>
                <a:latin typeface="Times New Roman"/>
                <a:ea typeface="Times New Roman"/>
                <a:cs typeface="Times New Roman"/>
                <a:sym typeface="Times New Roman"/>
              </a:rPr>
              <a:t> du </a:t>
            </a:r>
            <a:r>
              <a:rPr lang="en-US" sz="4000" b="1" dirty="0" err="1">
                <a:solidFill>
                  <a:schemeClr val="bg1"/>
                </a:solidFill>
                <a:latin typeface="Times New Roman"/>
                <a:ea typeface="Times New Roman"/>
                <a:cs typeface="Times New Roman"/>
                <a:sym typeface="Times New Roman"/>
              </a:rPr>
              <a:t>lịch</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đa</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kênh</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dựa</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trên</a:t>
            </a:r>
            <a:r>
              <a:rPr lang="en-US" sz="4000" b="1" dirty="0">
                <a:solidFill>
                  <a:schemeClr val="bg1"/>
                </a:solidFill>
                <a:latin typeface="Times New Roman"/>
                <a:ea typeface="Times New Roman"/>
                <a:cs typeface="Times New Roman"/>
                <a:sym typeface="Times New Roman"/>
              </a:rPr>
              <a:t> QR </a:t>
            </a:r>
            <a:r>
              <a:rPr lang="en-US" sz="4000" b="1" dirty="0" err="1">
                <a:solidFill>
                  <a:schemeClr val="bg1"/>
                </a:solidFill>
                <a:latin typeface="Times New Roman"/>
                <a:ea typeface="Times New Roman"/>
                <a:cs typeface="Times New Roman"/>
                <a:sym typeface="Times New Roman"/>
              </a:rPr>
              <a:t>và</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xác</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thực</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định</a:t>
            </a:r>
            <a:r>
              <a:rPr lang="en-US" sz="4000" b="1" dirty="0">
                <a:solidFill>
                  <a:schemeClr val="bg1"/>
                </a:solidFill>
                <a:latin typeface="Times New Roman"/>
                <a:ea typeface="Times New Roman"/>
                <a:cs typeface="Times New Roman"/>
                <a:sym typeface="Times New Roman"/>
              </a:rPr>
              <a:t> </a:t>
            </a:r>
            <a:r>
              <a:rPr lang="en-US" sz="4000" b="1" dirty="0" err="1">
                <a:solidFill>
                  <a:schemeClr val="bg1"/>
                </a:solidFill>
                <a:latin typeface="Times New Roman"/>
                <a:ea typeface="Times New Roman"/>
                <a:cs typeface="Times New Roman"/>
                <a:sym typeface="Times New Roman"/>
              </a:rPr>
              <a:t>danh</a:t>
            </a:r>
            <a:r>
              <a:rPr lang="en-US" sz="4000" dirty="0">
                <a:solidFill>
                  <a:schemeClr val="bg1"/>
                </a:solidFill>
              </a:rPr>
              <a:t> </a:t>
            </a:r>
            <a:endParaRPr sz="4000" dirty="0">
              <a:solidFill>
                <a:schemeClr val="bg1"/>
              </a:solidFill>
            </a:endParaRPr>
          </a:p>
        </p:txBody>
      </p:sp>
      <p:sp>
        <p:nvSpPr>
          <p:cNvPr id="86" name="Google Shape;86;p13"/>
          <p:cNvSpPr txBox="1"/>
          <p:nvPr/>
        </p:nvSpPr>
        <p:spPr>
          <a:xfrm>
            <a:off x="2819400" y="3194744"/>
            <a:ext cx="65532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38BDF8"/>
                </a:solidFill>
                <a:latin typeface="Inter SemiBold"/>
                <a:ea typeface="Inter SemiBold"/>
                <a:cs typeface="Inter SemiBold"/>
                <a:sym typeface="Inter SemiBold"/>
              </a:rPr>
              <a:t>Giải Pháp Đa Kênh Tích Hợp AI &amp; Dashboard</a:t>
            </a:r>
            <a:endParaRPr/>
          </a:p>
        </p:txBody>
      </p:sp>
      <p:sp>
        <p:nvSpPr>
          <p:cNvPr id="87" name="Google Shape;87;p13"/>
          <p:cNvSpPr/>
          <p:nvPr/>
        </p:nvSpPr>
        <p:spPr>
          <a:xfrm>
            <a:off x="5619750" y="4158555"/>
            <a:ext cx="952500" cy="38100"/>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2732625" y="4867113"/>
            <a:ext cx="6909900" cy="307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000" b="1" i="0" u="none" strike="noStrike" cap="none">
                <a:solidFill>
                  <a:srgbClr val="CBD5E1"/>
                </a:solidFill>
                <a:latin typeface="Inter"/>
                <a:ea typeface="Inter"/>
                <a:cs typeface="Inter"/>
                <a:sym typeface="Inter"/>
              </a:rPr>
              <a:t>Sinh viên thực hiện:</a:t>
            </a:r>
            <a:r>
              <a:rPr lang="en-US" sz="2000" b="0" i="0" u="none" strike="noStrike" cap="none">
                <a:solidFill>
                  <a:srgbClr val="CBD5E1"/>
                </a:solidFill>
                <a:latin typeface="Inter"/>
                <a:ea typeface="Inter"/>
                <a:cs typeface="Inter"/>
                <a:sym typeface="Inter"/>
              </a:rPr>
              <a:t> Ngô Mạnh Khang - 22050055</a:t>
            </a:r>
            <a:endParaRPr sz="2000"/>
          </a:p>
        </p:txBody>
      </p:sp>
      <p:sp>
        <p:nvSpPr>
          <p:cNvPr id="89" name="Google Shape;89;p13"/>
          <p:cNvSpPr txBox="1"/>
          <p:nvPr/>
        </p:nvSpPr>
        <p:spPr>
          <a:xfrm>
            <a:off x="3721725" y="5443850"/>
            <a:ext cx="4931700" cy="307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000" b="1" i="0" u="none" strike="noStrike" cap="none">
                <a:solidFill>
                  <a:srgbClr val="CBD5E1"/>
                </a:solidFill>
                <a:latin typeface="Inter"/>
                <a:ea typeface="Inter"/>
                <a:cs typeface="Inter"/>
                <a:sym typeface="Inter"/>
              </a:rPr>
              <a:t>Giáo viên hướng dẫn:</a:t>
            </a:r>
            <a:r>
              <a:rPr lang="en-US" sz="2000" b="0" i="0" u="none" strike="noStrike" cap="none">
                <a:solidFill>
                  <a:srgbClr val="CBD5E1"/>
                </a:solidFill>
                <a:latin typeface="Inter"/>
                <a:ea typeface="Inter"/>
                <a:cs typeface="Inter"/>
                <a:sym typeface="Inter"/>
              </a:rPr>
              <a:t> Dương Anh Tuấn</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6334125" y="1524000"/>
            <a:ext cx="5286375" cy="3810000"/>
          </a:xfrm>
          <a:prstGeom prst="rect">
            <a:avLst/>
          </a:prstGeom>
          <a:noFill/>
          <a:ln>
            <a:noFill/>
          </a:ln>
        </p:spPr>
      </p:pic>
      <p:pic>
        <p:nvPicPr>
          <p:cNvPr id="96" name="Google Shape;96;p14" descr="image.png"/>
          <p:cNvPicPr preferRelativeResize="0"/>
          <p:nvPr/>
        </p:nvPicPr>
        <p:blipFill rotWithShape="1">
          <a:blip r:embed="rId5">
            <a:alphaModFix/>
          </a:blip>
          <a:srcRect/>
          <a:stretch/>
        </p:blipFill>
        <p:spPr>
          <a:xfrm>
            <a:off x="6343650" y="1533525"/>
            <a:ext cx="5267325" cy="3790950"/>
          </a:xfrm>
          <a:prstGeom prst="rect">
            <a:avLst/>
          </a:prstGeom>
          <a:noFill/>
          <a:ln>
            <a:noFill/>
          </a:ln>
        </p:spPr>
      </p:pic>
      <p:sp>
        <p:nvSpPr>
          <p:cNvPr id="97" name="Google Shape;97;p14"/>
          <p:cNvSpPr txBox="1"/>
          <p:nvPr/>
        </p:nvSpPr>
        <p:spPr>
          <a:xfrm>
            <a:off x="1143000" y="1524000"/>
            <a:ext cx="4714875"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Thất Thoát Doanh Thu</a:t>
            </a:r>
            <a:r>
              <a:rPr lang="en-US" sz="1350" b="0" i="0" u="none" strike="noStrike" cap="none">
                <a:solidFill>
                  <a:srgbClr val="CBD5E1"/>
                </a:solidFill>
                <a:latin typeface="Inter"/>
                <a:ea typeface="Inter"/>
                <a:cs typeface="Inter"/>
                <a:sym typeface="Inter"/>
              </a:rPr>
              <a:t> Tình trạng sử dụng vé giả và việc luân chuyển, dùng chung vé giấy gây thất thoát lớn cho các khu du lịch.</a:t>
            </a:r>
            <a:endParaRPr/>
          </a:p>
        </p:txBody>
      </p:sp>
      <p:sp>
        <p:nvSpPr>
          <p:cNvPr id="98" name="Google Shape;98;p14"/>
          <p:cNvSpPr txBox="1"/>
          <p:nvPr/>
        </p:nvSpPr>
        <p:spPr>
          <a:xfrm>
            <a:off x="1143000" y="2769691"/>
            <a:ext cx="4714875"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Khó Khăn Quản Lý Đám Đông</a:t>
            </a:r>
            <a:r>
              <a:rPr lang="en-US" sz="1350" b="0" i="0" u="none" strike="noStrike" cap="none">
                <a:solidFill>
                  <a:srgbClr val="CBD5E1"/>
                </a:solidFill>
                <a:latin typeface="Inter"/>
                <a:ea typeface="Inter"/>
                <a:cs typeface="Inter"/>
                <a:sym typeface="Inter"/>
              </a:rPr>
              <a:t> Kiểm soát thủ công thiếu hiệu quả khi đối mặt với lượng lớn du khách, dẫn đến quá tải tại cổng ra vào.</a:t>
            </a:r>
            <a:endParaRPr/>
          </a:p>
        </p:txBody>
      </p:sp>
      <p:sp>
        <p:nvSpPr>
          <p:cNvPr id="99" name="Google Shape;99;p14"/>
          <p:cNvSpPr txBox="1"/>
          <p:nvPr/>
        </p:nvSpPr>
        <p:spPr>
          <a:xfrm>
            <a:off x="1143000" y="4015382"/>
            <a:ext cx="4714875"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Trải Nghiệm Khách Hàng Kém</a:t>
            </a:r>
            <a:r>
              <a:rPr lang="en-US" sz="1350" b="0" i="0" u="none" strike="noStrike" cap="none">
                <a:solidFill>
                  <a:srgbClr val="CBD5E1"/>
                </a:solidFill>
                <a:latin typeface="Inter"/>
                <a:ea typeface="Inter"/>
                <a:cs typeface="Inter"/>
                <a:sym typeface="Inter"/>
              </a:rPr>
              <a:t> Thời gian chờ đợi check-in quá lâu tạo ra trải nghiệm tồi tệ ngay từ bước đầu tiên khi bước vào khu vui chơi.</a:t>
            </a:r>
            <a:endParaRPr/>
          </a:p>
        </p:txBody>
      </p:sp>
      <p:pic>
        <p:nvPicPr>
          <p:cNvPr id="100" name="Google Shape;100;p14" descr="image.png"/>
          <p:cNvPicPr preferRelativeResize="0"/>
          <p:nvPr/>
        </p:nvPicPr>
        <p:blipFill rotWithShape="1">
          <a:blip r:embed="rId6">
            <a:alphaModFix/>
          </a:blip>
          <a:srcRect/>
          <a:stretch/>
        </p:blipFill>
        <p:spPr>
          <a:xfrm>
            <a:off x="571500" y="1533525"/>
            <a:ext cx="304800" cy="323850"/>
          </a:xfrm>
          <a:prstGeom prst="rect">
            <a:avLst/>
          </a:prstGeom>
          <a:noFill/>
          <a:ln>
            <a:noFill/>
          </a:ln>
        </p:spPr>
      </p:pic>
      <p:pic>
        <p:nvPicPr>
          <p:cNvPr id="101" name="Google Shape;101;p14" descr="image.png"/>
          <p:cNvPicPr preferRelativeResize="0"/>
          <p:nvPr/>
        </p:nvPicPr>
        <p:blipFill rotWithShape="1">
          <a:blip r:embed="rId7">
            <a:alphaModFix/>
          </a:blip>
          <a:srcRect/>
          <a:stretch/>
        </p:blipFill>
        <p:spPr>
          <a:xfrm>
            <a:off x="571500" y="2779216"/>
            <a:ext cx="381000" cy="323850"/>
          </a:xfrm>
          <a:prstGeom prst="rect">
            <a:avLst/>
          </a:prstGeom>
          <a:noFill/>
          <a:ln>
            <a:noFill/>
          </a:ln>
        </p:spPr>
      </p:pic>
      <p:pic>
        <p:nvPicPr>
          <p:cNvPr id="102" name="Google Shape;102;p14" descr="image.png"/>
          <p:cNvPicPr preferRelativeResize="0"/>
          <p:nvPr/>
        </p:nvPicPr>
        <p:blipFill rotWithShape="1">
          <a:blip r:embed="rId8">
            <a:alphaModFix/>
          </a:blip>
          <a:srcRect/>
          <a:stretch/>
        </p:blipFill>
        <p:spPr>
          <a:xfrm>
            <a:off x="571500" y="4024907"/>
            <a:ext cx="228600" cy="323850"/>
          </a:xfrm>
          <a:prstGeom prst="rect">
            <a:avLst/>
          </a:prstGeom>
          <a:noFill/>
          <a:ln>
            <a:noFill/>
          </a:ln>
        </p:spPr>
      </p:pic>
      <p:sp>
        <p:nvSpPr>
          <p:cNvPr id="103" name="Google Shape;103;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BỐI CẢNH &amp; VẤN ĐỀ</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571500" y="1524000"/>
            <a:ext cx="2547937" cy="3590776"/>
          </a:xfrm>
          <a:prstGeom prst="rect">
            <a:avLst/>
          </a:prstGeom>
          <a:noFill/>
          <a:ln>
            <a:noFill/>
          </a:ln>
        </p:spPr>
      </p:pic>
      <p:pic>
        <p:nvPicPr>
          <p:cNvPr id="110" name="Google Shape;110;p15" descr="image.png"/>
          <p:cNvPicPr preferRelativeResize="0"/>
          <p:nvPr/>
        </p:nvPicPr>
        <p:blipFill rotWithShape="1">
          <a:blip r:embed="rId5">
            <a:alphaModFix/>
          </a:blip>
          <a:srcRect/>
          <a:stretch/>
        </p:blipFill>
        <p:spPr>
          <a:xfrm>
            <a:off x="3405187" y="1524000"/>
            <a:ext cx="2547937" cy="3590776"/>
          </a:xfrm>
          <a:prstGeom prst="rect">
            <a:avLst/>
          </a:prstGeom>
          <a:noFill/>
          <a:ln>
            <a:noFill/>
          </a:ln>
        </p:spPr>
      </p:pic>
      <p:pic>
        <p:nvPicPr>
          <p:cNvPr id="111" name="Google Shape;111;p15" descr="image.png"/>
          <p:cNvPicPr preferRelativeResize="0"/>
          <p:nvPr/>
        </p:nvPicPr>
        <p:blipFill rotWithShape="1">
          <a:blip r:embed="rId6">
            <a:alphaModFix/>
          </a:blip>
          <a:srcRect/>
          <a:stretch/>
        </p:blipFill>
        <p:spPr>
          <a:xfrm>
            <a:off x="6238875" y="1524000"/>
            <a:ext cx="2547937" cy="3590776"/>
          </a:xfrm>
          <a:prstGeom prst="rect">
            <a:avLst/>
          </a:prstGeom>
          <a:noFill/>
          <a:ln>
            <a:noFill/>
          </a:ln>
        </p:spPr>
      </p:pic>
      <p:pic>
        <p:nvPicPr>
          <p:cNvPr id="112" name="Google Shape;112;p15" descr="image.png"/>
          <p:cNvPicPr preferRelativeResize="0"/>
          <p:nvPr/>
        </p:nvPicPr>
        <p:blipFill rotWithShape="1">
          <a:blip r:embed="rId5">
            <a:alphaModFix/>
          </a:blip>
          <a:srcRect/>
          <a:stretch/>
        </p:blipFill>
        <p:spPr>
          <a:xfrm>
            <a:off x="9072562" y="1524000"/>
            <a:ext cx="2547937" cy="3590776"/>
          </a:xfrm>
          <a:prstGeom prst="rect">
            <a:avLst/>
          </a:prstGeom>
          <a:noFill/>
          <a:ln>
            <a:noFill/>
          </a:ln>
        </p:spPr>
      </p:pic>
      <p:sp>
        <p:nvSpPr>
          <p:cNvPr id="113" name="Google Shape;113;p15"/>
          <p:cNvSpPr txBox="1"/>
          <p:nvPr/>
        </p:nvSpPr>
        <p:spPr>
          <a:xfrm>
            <a:off x="819150" y="2543175"/>
            <a:ext cx="1870233"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QR Code RS256</a:t>
            </a:r>
            <a:endParaRPr/>
          </a:p>
        </p:txBody>
      </p:sp>
      <p:sp>
        <p:nvSpPr>
          <p:cNvPr id="114" name="Google Shape;114;p15"/>
          <p:cNvSpPr txBox="1"/>
          <p:nvPr/>
        </p:nvSpPr>
        <p:spPr>
          <a:xfrm>
            <a:off x="819150" y="2971800"/>
            <a:ext cx="2052637"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Quét mã QR động với chữ ký số chuẩn RS256, đảm bảo mã vé không thể bị làm giả hay can thiệp trái phép.</a:t>
            </a:r>
            <a:endParaRPr/>
          </a:p>
        </p:txBody>
      </p:sp>
      <p:sp>
        <p:nvSpPr>
          <p:cNvPr id="115" name="Google Shape;115;p15"/>
          <p:cNvSpPr txBox="1"/>
          <p:nvPr/>
        </p:nvSpPr>
        <p:spPr>
          <a:xfrm>
            <a:off x="3652837" y="2543175"/>
            <a:ext cx="164020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Face Verify 1:1</a:t>
            </a:r>
            <a:endParaRPr/>
          </a:p>
        </p:txBody>
      </p:sp>
      <p:sp>
        <p:nvSpPr>
          <p:cNvPr id="116" name="Google Shape;116;p15"/>
          <p:cNvSpPr txBox="1"/>
          <p:nvPr/>
        </p:nvSpPr>
        <p:spPr>
          <a:xfrm>
            <a:off x="3652837" y="2971800"/>
            <a:ext cx="2052637"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Ứng dụng AI nhận diện khuôn mặt để xác thực chủ nhân vé ngay tại cổng, đảm bảo quy tắc "1 vé - 1 người duy nhất".</a:t>
            </a:r>
            <a:endParaRPr/>
          </a:p>
        </p:txBody>
      </p:sp>
      <p:sp>
        <p:nvSpPr>
          <p:cNvPr id="117" name="Google Shape;117;p15"/>
          <p:cNvSpPr txBox="1"/>
          <p:nvPr/>
        </p:nvSpPr>
        <p:spPr>
          <a:xfrm>
            <a:off x="6486525" y="2543175"/>
            <a:ext cx="1650206"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Identity Hash</a:t>
            </a:r>
            <a:endParaRPr/>
          </a:p>
        </p:txBody>
      </p:sp>
      <p:sp>
        <p:nvSpPr>
          <p:cNvPr id="118" name="Google Shape;118;p15"/>
          <p:cNvSpPr txBox="1"/>
          <p:nvPr/>
        </p:nvSpPr>
        <p:spPr>
          <a:xfrm>
            <a:off x="6486525" y="2971800"/>
            <a:ext cx="2052637"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Kiểm tra chéo bằng mã định danh cá nhân (CCCD) được băm một chiều (Hash) để tăng cường bảo mật danh tính.</a:t>
            </a:r>
            <a:endParaRPr/>
          </a:p>
        </p:txBody>
      </p:sp>
      <p:sp>
        <p:nvSpPr>
          <p:cNvPr id="119" name="Google Shape;119;p15"/>
          <p:cNvSpPr txBox="1"/>
          <p:nvPr/>
        </p:nvSpPr>
        <p:spPr>
          <a:xfrm>
            <a:off x="9320212" y="2543175"/>
            <a:ext cx="2155269"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Tra Cứu Thủ Công</a:t>
            </a:r>
            <a:endParaRPr/>
          </a:p>
        </p:txBody>
      </p:sp>
      <p:sp>
        <p:nvSpPr>
          <p:cNvPr id="120" name="Google Shape;120;p15"/>
          <p:cNvSpPr txBox="1"/>
          <p:nvPr/>
        </p:nvSpPr>
        <p:spPr>
          <a:xfrm>
            <a:off x="9320212" y="3305175"/>
            <a:ext cx="2052637"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Cổng hỗ trợ nhân viên đối chiếu và xử lý các trường hợp ngoại lệ trực tiếp trên hệ thống một cách nhanh chóng.</a:t>
            </a:r>
            <a:endParaRPr/>
          </a:p>
        </p:txBody>
      </p:sp>
      <p:pic>
        <p:nvPicPr>
          <p:cNvPr id="121" name="Google Shape;121;p15" descr="image.png"/>
          <p:cNvPicPr preferRelativeResize="0"/>
          <p:nvPr/>
        </p:nvPicPr>
        <p:blipFill rotWithShape="1">
          <a:blip r:embed="rId7">
            <a:alphaModFix/>
          </a:blip>
          <a:srcRect/>
          <a:stretch/>
        </p:blipFill>
        <p:spPr>
          <a:xfrm>
            <a:off x="819150" y="1857375"/>
            <a:ext cx="352425" cy="400050"/>
          </a:xfrm>
          <a:prstGeom prst="rect">
            <a:avLst/>
          </a:prstGeom>
          <a:noFill/>
          <a:ln>
            <a:noFill/>
          </a:ln>
        </p:spPr>
      </p:pic>
      <p:pic>
        <p:nvPicPr>
          <p:cNvPr id="122" name="Google Shape;122;p15" descr="image.png"/>
          <p:cNvPicPr preferRelativeResize="0"/>
          <p:nvPr/>
        </p:nvPicPr>
        <p:blipFill rotWithShape="1">
          <a:blip r:embed="rId8">
            <a:alphaModFix/>
          </a:blip>
          <a:srcRect/>
          <a:stretch/>
        </p:blipFill>
        <p:spPr>
          <a:xfrm>
            <a:off x="6486525" y="1857375"/>
            <a:ext cx="447675" cy="400050"/>
          </a:xfrm>
          <a:prstGeom prst="rect">
            <a:avLst/>
          </a:prstGeom>
          <a:noFill/>
          <a:ln>
            <a:noFill/>
          </a:ln>
        </p:spPr>
      </p:pic>
      <p:pic>
        <p:nvPicPr>
          <p:cNvPr id="123" name="Google Shape;123;p15" descr="image.png"/>
          <p:cNvPicPr preferRelativeResize="0"/>
          <p:nvPr/>
        </p:nvPicPr>
        <p:blipFill rotWithShape="1">
          <a:blip r:embed="rId9">
            <a:alphaModFix/>
          </a:blip>
          <a:srcRect/>
          <a:stretch/>
        </p:blipFill>
        <p:spPr>
          <a:xfrm>
            <a:off x="9320212" y="1857375"/>
            <a:ext cx="504825" cy="400050"/>
          </a:xfrm>
          <a:prstGeom prst="rect">
            <a:avLst/>
          </a:prstGeom>
          <a:noFill/>
          <a:ln>
            <a:noFill/>
          </a:ln>
        </p:spPr>
      </p:pic>
      <p:sp>
        <p:nvSpPr>
          <p:cNvPr id="124" name="Google Shape;124;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GIẢI PHÁP KIỂM SOÁT ĐA KÊNH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6334125" y="1345257"/>
            <a:ext cx="5286375" cy="4286250"/>
          </a:xfrm>
          <a:prstGeom prst="rect">
            <a:avLst/>
          </a:prstGeom>
          <a:noFill/>
          <a:ln>
            <a:noFill/>
          </a:ln>
        </p:spPr>
      </p:pic>
      <p:sp>
        <p:nvSpPr>
          <p:cNvPr id="131" name="Google Shape;131;p16"/>
          <p:cNvSpPr txBox="1"/>
          <p:nvPr/>
        </p:nvSpPr>
        <p:spPr>
          <a:xfrm>
            <a:off x="571500" y="1345257"/>
            <a:ext cx="52863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Hệ thống được thiết kế theo mô hình kiến trúc phân tán (Distributed Architecture) nhằm tối ưu hiệu năng và độ tin cậy khi vận hành:</a:t>
            </a:r>
            <a:endParaRPr/>
          </a:p>
        </p:txBody>
      </p:sp>
      <p:pic>
        <p:nvPicPr>
          <p:cNvPr id="132" name="Google Shape;132;p16" descr="image.png"/>
          <p:cNvPicPr preferRelativeResize="0"/>
          <p:nvPr/>
        </p:nvPicPr>
        <p:blipFill rotWithShape="1">
          <a:blip r:embed="rId5">
            <a:alphaModFix/>
          </a:blip>
          <a:srcRect/>
          <a:stretch/>
        </p:blipFill>
        <p:spPr>
          <a:xfrm>
            <a:off x="6343650" y="1354782"/>
            <a:ext cx="5267325" cy="4267200"/>
          </a:xfrm>
          <a:prstGeom prst="rect">
            <a:avLst/>
          </a:prstGeom>
          <a:noFill/>
          <a:ln>
            <a:noFill/>
          </a:ln>
        </p:spPr>
      </p:pic>
      <p:sp>
        <p:nvSpPr>
          <p:cNvPr id="133" name="Google Shape;133;p16"/>
          <p:cNvSpPr txBox="1"/>
          <p:nvPr/>
        </p:nvSpPr>
        <p:spPr>
          <a:xfrm>
            <a:off x="1143000" y="2453878"/>
            <a:ext cx="4714875"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Mobile App (Client)</a:t>
            </a:r>
            <a:r>
              <a:rPr lang="en-US" sz="1350" b="0" i="0" u="none" strike="noStrike" cap="none">
                <a:solidFill>
                  <a:srgbClr val="CBD5E1"/>
                </a:solidFill>
                <a:latin typeface="Inter"/>
                <a:ea typeface="Inter"/>
                <a:cs typeface="Inter"/>
                <a:sym typeface="Inter"/>
              </a:rPr>
              <a:t> Thiết bị di động tại cổng làm nhiệm vụ thu thập dữ liệu mã QR và hình ảnh khuôn mặt theo thời gian thực.</a:t>
            </a:r>
            <a:endParaRPr/>
          </a:p>
        </p:txBody>
      </p:sp>
      <p:sp>
        <p:nvSpPr>
          <p:cNvPr id="134" name="Google Shape;134;p16"/>
          <p:cNvSpPr txBox="1"/>
          <p:nvPr/>
        </p:nvSpPr>
        <p:spPr>
          <a:xfrm>
            <a:off x="1143000" y="3699569"/>
            <a:ext cx="4714875"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Cloud Backend (Render)</a:t>
            </a:r>
            <a:r>
              <a:rPr lang="en-US" sz="1350" b="0" i="0" u="none" strike="noStrike" cap="none">
                <a:solidFill>
                  <a:srgbClr val="CBD5E1"/>
                </a:solidFill>
                <a:latin typeface="Inter"/>
                <a:ea typeface="Inter"/>
                <a:cs typeface="Inter"/>
                <a:sym typeface="Inter"/>
              </a:rPr>
              <a:t> Xử lý logic nghiệp vụ, quản lý dữ liệu vé và điều phối các yêu cầu từ hàng loạt thiết bị truy cập đồng thời.</a:t>
            </a:r>
            <a:endParaRPr/>
          </a:p>
        </p:txBody>
      </p:sp>
      <p:sp>
        <p:nvSpPr>
          <p:cNvPr id="135" name="Google Shape;135;p16"/>
          <p:cNvSpPr txBox="1"/>
          <p:nvPr/>
        </p:nvSpPr>
        <p:spPr>
          <a:xfrm>
            <a:off x="1143000" y="4945260"/>
            <a:ext cx="4714875" cy="12342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Local AI Service (Ngrok)</a:t>
            </a:r>
            <a:r>
              <a:rPr lang="en-US" sz="1350" b="0" i="0" u="none" strike="noStrike" cap="none">
                <a:solidFill>
                  <a:srgbClr val="CBD5E1"/>
                </a:solidFill>
                <a:latin typeface="Inter"/>
                <a:ea typeface="Inter"/>
                <a:cs typeface="Inter"/>
                <a:sym typeface="Inter"/>
              </a:rPr>
              <a:t> Máy chủ AI nội bộ đảm nhận việc trích xuất và so sánh vector khuôn mặt tốc độ cao, giao tiếp với Cloud qua Ngrok tunnel an toàn.</a:t>
            </a:r>
            <a:endParaRPr/>
          </a:p>
        </p:txBody>
      </p:sp>
      <p:pic>
        <p:nvPicPr>
          <p:cNvPr id="136" name="Google Shape;136;p16" descr="image.png"/>
          <p:cNvPicPr preferRelativeResize="0"/>
          <p:nvPr/>
        </p:nvPicPr>
        <p:blipFill rotWithShape="1">
          <a:blip r:embed="rId6">
            <a:alphaModFix/>
          </a:blip>
          <a:srcRect/>
          <a:stretch/>
        </p:blipFill>
        <p:spPr>
          <a:xfrm>
            <a:off x="571500" y="2463403"/>
            <a:ext cx="228600" cy="323850"/>
          </a:xfrm>
          <a:prstGeom prst="rect">
            <a:avLst/>
          </a:prstGeom>
          <a:noFill/>
          <a:ln>
            <a:noFill/>
          </a:ln>
        </p:spPr>
      </p:pic>
      <p:pic>
        <p:nvPicPr>
          <p:cNvPr id="137" name="Google Shape;137;p16" descr="image.png"/>
          <p:cNvPicPr preferRelativeResize="0"/>
          <p:nvPr/>
        </p:nvPicPr>
        <p:blipFill rotWithShape="1">
          <a:blip r:embed="rId7">
            <a:alphaModFix/>
          </a:blip>
          <a:srcRect/>
          <a:stretch/>
        </p:blipFill>
        <p:spPr>
          <a:xfrm>
            <a:off x="571500" y="3709094"/>
            <a:ext cx="381000" cy="323850"/>
          </a:xfrm>
          <a:prstGeom prst="rect">
            <a:avLst/>
          </a:prstGeom>
          <a:noFill/>
          <a:ln>
            <a:noFill/>
          </a:ln>
        </p:spPr>
      </p:pic>
      <p:pic>
        <p:nvPicPr>
          <p:cNvPr id="138" name="Google Shape;138;p16" descr="image.png"/>
          <p:cNvPicPr preferRelativeResize="0"/>
          <p:nvPr/>
        </p:nvPicPr>
        <p:blipFill rotWithShape="1">
          <a:blip r:embed="rId8">
            <a:alphaModFix/>
          </a:blip>
          <a:srcRect/>
          <a:stretch/>
        </p:blipFill>
        <p:spPr>
          <a:xfrm>
            <a:off x="571500" y="4954785"/>
            <a:ext cx="304800" cy="323850"/>
          </a:xfrm>
          <a:prstGeom prst="rect">
            <a:avLst/>
          </a:prstGeom>
          <a:noFill/>
          <a:ln>
            <a:noFill/>
          </a:ln>
        </p:spPr>
      </p:pic>
      <p:sp>
        <p:nvSpPr>
          <p:cNvPr id="139" name="Google Shape;139;p16"/>
          <p:cNvSpPr txBox="1"/>
          <p:nvPr/>
        </p:nvSpPr>
        <p:spPr>
          <a:xfrm>
            <a:off x="571500" y="392757"/>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KIẾN TRÚC HỆ THỐNG PHÂN TÁN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p:cNvPicPr preferRelativeResize="0"/>
          <p:nvPr/>
        </p:nvPicPr>
        <p:blipFill rotWithShape="1">
          <a:blip r:embed="rId4">
            <a:alphaModFix/>
          </a:blip>
          <a:srcRect/>
          <a:stretch/>
        </p:blipFill>
        <p:spPr>
          <a:xfrm>
            <a:off x="571500" y="1524000"/>
            <a:ext cx="2547937" cy="3531691"/>
          </a:xfrm>
          <a:prstGeom prst="rect">
            <a:avLst/>
          </a:prstGeom>
          <a:noFill/>
          <a:ln>
            <a:noFill/>
          </a:ln>
        </p:spPr>
      </p:pic>
      <p:pic>
        <p:nvPicPr>
          <p:cNvPr id="146" name="Google Shape;146;p17" descr="image.png"/>
          <p:cNvPicPr preferRelativeResize="0"/>
          <p:nvPr/>
        </p:nvPicPr>
        <p:blipFill rotWithShape="1">
          <a:blip r:embed="rId5">
            <a:alphaModFix/>
          </a:blip>
          <a:srcRect/>
          <a:stretch/>
        </p:blipFill>
        <p:spPr>
          <a:xfrm>
            <a:off x="3405187" y="1524000"/>
            <a:ext cx="2547937" cy="3531691"/>
          </a:xfrm>
          <a:prstGeom prst="rect">
            <a:avLst/>
          </a:prstGeom>
          <a:noFill/>
          <a:ln>
            <a:noFill/>
          </a:ln>
        </p:spPr>
      </p:pic>
      <p:pic>
        <p:nvPicPr>
          <p:cNvPr id="147" name="Google Shape;147;p17" descr="image.png"/>
          <p:cNvPicPr preferRelativeResize="0"/>
          <p:nvPr/>
        </p:nvPicPr>
        <p:blipFill rotWithShape="1">
          <a:blip r:embed="rId6">
            <a:alphaModFix/>
          </a:blip>
          <a:srcRect/>
          <a:stretch/>
        </p:blipFill>
        <p:spPr>
          <a:xfrm>
            <a:off x="6238875" y="1524000"/>
            <a:ext cx="2547937" cy="3531691"/>
          </a:xfrm>
          <a:prstGeom prst="rect">
            <a:avLst/>
          </a:prstGeom>
          <a:noFill/>
          <a:ln>
            <a:noFill/>
          </a:ln>
        </p:spPr>
      </p:pic>
      <p:pic>
        <p:nvPicPr>
          <p:cNvPr id="148" name="Google Shape;148;p17" descr="image.png"/>
          <p:cNvPicPr preferRelativeResize="0"/>
          <p:nvPr/>
        </p:nvPicPr>
        <p:blipFill rotWithShape="1">
          <a:blip r:embed="rId5">
            <a:alphaModFix/>
          </a:blip>
          <a:srcRect/>
          <a:stretch/>
        </p:blipFill>
        <p:spPr>
          <a:xfrm>
            <a:off x="9072562" y="1524000"/>
            <a:ext cx="2547937" cy="3531691"/>
          </a:xfrm>
          <a:prstGeom prst="rect">
            <a:avLst/>
          </a:prstGeom>
          <a:noFill/>
          <a:ln>
            <a:noFill/>
          </a:ln>
        </p:spPr>
      </p:pic>
      <p:sp>
        <p:nvSpPr>
          <p:cNvPr id="149" name="Google Shape;149;p17"/>
          <p:cNvSpPr txBox="1"/>
          <p:nvPr/>
        </p:nvSpPr>
        <p:spPr>
          <a:xfrm>
            <a:off x="819150" y="2543175"/>
            <a:ext cx="20902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FastAPI (Python)</a:t>
            </a:r>
            <a:endParaRPr/>
          </a:p>
        </p:txBody>
      </p:sp>
      <p:sp>
        <p:nvSpPr>
          <p:cNvPr id="150" name="Google Shape;150;p17"/>
          <p:cNvSpPr txBox="1"/>
          <p:nvPr/>
        </p:nvSpPr>
        <p:spPr>
          <a:xfrm>
            <a:off x="819150" y="2971800"/>
            <a:ext cx="2052637"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Khung lập trình Backend tốc độ cao, xử lý I/O bất đồng bộ hoàn hảo cho việc tiếp nhận dữ liệu từ các cổng kiểm soát liên tục.</a:t>
            </a:r>
            <a:endParaRPr/>
          </a:p>
        </p:txBody>
      </p:sp>
      <p:sp>
        <p:nvSpPr>
          <p:cNvPr id="151" name="Google Shape;151;p17"/>
          <p:cNvSpPr txBox="1"/>
          <p:nvPr/>
        </p:nvSpPr>
        <p:spPr>
          <a:xfrm>
            <a:off x="3652837" y="2543175"/>
            <a:ext cx="1860232"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ReactJS (Web)</a:t>
            </a:r>
            <a:endParaRPr/>
          </a:p>
        </p:txBody>
      </p:sp>
      <p:sp>
        <p:nvSpPr>
          <p:cNvPr id="152" name="Google Shape;152;p17"/>
          <p:cNvSpPr txBox="1"/>
          <p:nvPr/>
        </p:nvSpPr>
        <p:spPr>
          <a:xfrm>
            <a:off x="3652837" y="2971800"/>
            <a:ext cx="2052637"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Xây dựng hệ thống Web Dashboard tương tác mượt mà, quản lý trạng thái động cho ban quản trị theo dõi thời gian thực.</a:t>
            </a:r>
            <a:endParaRPr/>
          </a:p>
        </p:txBody>
      </p:sp>
      <p:sp>
        <p:nvSpPr>
          <p:cNvPr id="153" name="Google Shape;153;p17"/>
          <p:cNvSpPr txBox="1"/>
          <p:nvPr/>
        </p:nvSpPr>
        <p:spPr>
          <a:xfrm>
            <a:off x="6486525" y="2543175"/>
            <a:ext cx="1550193"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Kotlin Native</a:t>
            </a:r>
            <a:endParaRPr/>
          </a:p>
        </p:txBody>
      </p:sp>
      <p:sp>
        <p:nvSpPr>
          <p:cNvPr id="154" name="Google Shape;154;p17"/>
          <p:cNvSpPr txBox="1"/>
          <p:nvPr/>
        </p:nvSpPr>
        <p:spPr>
          <a:xfrm>
            <a:off x="6486525" y="2971800"/>
            <a:ext cx="2052637"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Phát triển ứng dụng Mobile gốc trên Android, tối ưu hóa CameraX để bắt khung hình khuôn mặt chính xác ngay tại cổng.</a:t>
            </a:r>
            <a:endParaRPr/>
          </a:p>
        </p:txBody>
      </p:sp>
      <p:sp>
        <p:nvSpPr>
          <p:cNvPr id="155" name="Google Shape;155;p17"/>
          <p:cNvSpPr txBox="1"/>
          <p:nvPr/>
        </p:nvSpPr>
        <p:spPr>
          <a:xfrm>
            <a:off x="9320212" y="2543175"/>
            <a:ext cx="188023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2E8F0"/>
                </a:solidFill>
                <a:latin typeface="Poppins SemiBold"/>
                <a:ea typeface="Poppins SemiBold"/>
                <a:cs typeface="Poppins SemiBold"/>
                <a:sym typeface="Poppins SemiBold"/>
              </a:rPr>
              <a:t>MongoDB Atlas</a:t>
            </a:r>
            <a:endParaRPr/>
          </a:p>
        </p:txBody>
      </p:sp>
      <p:sp>
        <p:nvSpPr>
          <p:cNvPr id="156" name="Google Shape;156;p17"/>
          <p:cNvSpPr txBox="1"/>
          <p:nvPr/>
        </p:nvSpPr>
        <p:spPr>
          <a:xfrm>
            <a:off x="9320212" y="2971800"/>
            <a:ext cx="2052637"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Cơ sở dữ liệu NoSQL trên nền tảng Cloud, linh hoạt trong việc lưu trữ dữ liệu JSON và chuỗi vector khuôn mặt (128-d).</a:t>
            </a:r>
            <a:endParaRPr/>
          </a:p>
        </p:txBody>
      </p:sp>
      <p:pic>
        <p:nvPicPr>
          <p:cNvPr id="157" name="Google Shape;157;p17" descr="image.png"/>
          <p:cNvPicPr preferRelativeResize="0"/>
          <p:nvPr/>
        </p:nvPicPr>
        <p:blipFill rotWithShape="1">
          <a:blip r:embed="rId7">
            <a:alphaModFix/>
          </a:blip>
          <a:srcRect/>
          <a:stretch/>
        </p:blipFill>
        <p:spPr>
          <a:xfrm>
            <a:off x="819150" y="1857375"/>
            <a:ext cx="352425" cy="400050"/>
          </a:xfrm>
          <a:prstGeom prst="rect">
            <a:avLst/>
          </a:prstGeom>
          <a:noFill/>
          <a:ln>
            <a:noFill/>
          </a:ln>
        </p:spPr>
      </p:pic>
      <p:pic>
        <p:nvPicPr>
          <p:cNvPr id="158" name="Google Shape;158;p17" descr="image.png"/>
          <p:cNvPicPr preferRelativeResize="0"/>
          <p:nvPr/>
        </p:nvPicPr>
        <p:blipFill rotWithShape="1">
          <a:blip r:embed="rId8">
            <a:alphaModFix/>
          </a:blip>
          <a:srcRect/>
          <a:stretch/>
        </p:blipFill>
        <p:spPr>
          <a:xfrm>
            <a:off x="3652837" y="1857375"/>
            <a:ext cx="400050" cy="400050"/>
          </a:xfrm>
          <a:prstGeom prst="rect">
            <a:avLst/>
          </a:prstGeom>
          <a:noFill/>
          <a:ln>
            <a:noFill/>
          </a:ln>
        </p:spPr>
      </p:pic>
      <p:pic>
        <p:nvPicPr>
          <p:cNvPr id="159" name="Google Shape;159;p17" descr="image.png"/>
          <p:cNvPicPr preferRelativeResize="0"/>
          <p:nvPr/>
        </p:nvPicPr>
        <p:blipFill rotWithShape="1">
          <a:blip r:embed="rId9">
            <a:alphaModFix/>
          </a:blip>
          <a:srcRect/>
          <a:stretch/>
        </p:blipFill>
        <p:spPr>
          <a:xfrm>
            <a:off x="6486525" y="1857375"/>
            <a:ext cx="447675" cy="400050"/>
          </a:xfrm>
          <a:prstGeom prst="rect">
            <a:avLst/>
          </a:prstGeom>
          <a:noFill/>
          <a:ln>
            <a:noFill/>
          </a:ln>
        </p:spPr>
      </p:pic>
      <p:pic>
        <p:nvPicPr>
          <p:cNvPr id="160" name="Google Shape;160;p17" descr="image.png"/>
          <p:cNvPicPr preferRelativeResize="0"/>
          <p:nvPr/>
        </p:nvPicPr>
        <p:blipFill rotWithShape="1">
          <a:blip r:embed="rId10">
            <a:alphaModFix/>
          </a:blip>
          <a:srcRect/>
          <a:stretch/>
        </p:blipFill>
        <p:spPr>
          <a:xfrm>
            <a:off x="9320212" y="1857375"/>
            <a:ext cx="352425" cy="400050"/>
          </a:xfrm>
          <a:prstGeom prst="rect">
            <a:avLst/>
          </a:prstGeom>
          <a:noFill/>
          <a:ln>
            <a:noFill/>
          </a:ln>
        </p:spPr>
      </p:pic>
      <p:sp>
        <p:nvSpPr>
          <p:cNvPr id="161" name="Google Shape;161;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CÔNG NGHỆ CỐT LÕI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18"/>
          <p:cNvSpPr txBox="1"/>
          <p:nvPr/>
        </p:nvSpPr>
        <p:spPr>
          <a:xfrm>
            <a:off x="571500" y="571500"/>
            <a:ext cx="5550693"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TRỌNG TÂM AI - SFACE MODEL</a:t>
            </a:r>
            <a:endParaRPr/>
          </a:p>
        </p:txBody>
      </p:sp>
      <p:pic>
        <p:nvPicPr>
          <p:cNvPr id="168" name="Google Shape;168;p18"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169" name="Google Shape;169;p18"/>
          <p:cNvSpPr txBox="1"/>
          <p:nvPr/>
        </p:nvSpPr>
        <p:spPr>
          <a:xfrm>
            <a:off x="571500" y="2095500"/>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38BDF8"/>
                </a:solidFill>
                <a:latin typeface="Poppins SemiBold"/>
                <a:ea typeface="Poppins SemiBold"/>
                <a:cs typeface="Poppins SemiBold"/>
                <a:sym typeface="Poppins SemiBold"/>
              </a:rPr>
              <a:t>Xác Thực Khuôn Mặt Siêu Tốc</a:t>
            </a:r>
            <a:endParaRPr/>
          </a:p>
        </p:txBody>
      </p:sp>
      <p:sp>
        <p:nvSpPr>
          <p:cNvPr id="170" name="Google Shape;170;p18"/>
          <p:cNvSpPr txBox="1"/>
          <p:nvPr/>
        </p:nvSpPr>
        <p:spPr>
          <a:xfrm>
            <a:off x="571500" y="2743200"/>
            <a:ext cx="5286375" cy="922883"/>
          </a:xfrm>
          <a:prstGeom prst="rect">
            <a:avLst/>
          </a:prstGeom>
          <a:noFill/>
          <a:ln>
            <a:noFill/>
          </a:ln>
        </p:spPr>
        <p:txBody>
          <a:bodyPr spcFirstLastPara="1" wrap="square" lIns="0" tIns="0" rIns="0" bIns="0" anchor="t" anchorCtr="0">
            <a:spAutoFit/>
          </a:bodyPr>
          <a:lstStyle/>
          <a:p>
            <a:pPr marL="0" marR="0" lvl="0" indent="0" algn="l" rtl="0">
              <a:lnSpc>
                <a:spcPct val="169964"/>
              </a:lnSpc>
              <a:spcBef>
                <a:spcPts val="0"/>
              </a:spcBef>
              <a:spcAft>
                <a:spcPts val="0"/>
              </a:spcAft>
              <a:buNone/>
            </a:pPr>
            <a:r>
              <a:rPr lang="en-US" sz="1425" b="0" i="0" u="none" strike="noStrike" cap="none">
                <a:solidFill>
                  <a:srgbClr val="CBD5E1"/>
                </a:solidFill>
                <a:latin typeface="Inter"/>
                <a:ea typeface="Inter"/>
                <a:cs typeface="Inter"/>
                <a:sym typeface="Inter"/>
              </a:rPr>
              <a:t>Hệ thống tích hợp model AI SFace mạnh mẽ, tự động trích xuất các đặc trưng khuôn mặt thành một </a:t>
            </a:r>
            <a:r>
              <a:rPr lang="en-US" sz="1425" b="1" i="0" u="none" strike="noStrike" cap="none">
                <a:solidFill>
                  <a:srgbClr val="CBD5E1"/>
                </a:solidFill>
                <a:latin typeface="Inter"/>
                <a:ea typeface="Inter"/>
                <a:cs typeface="Inter"/>
                <a:sym typeface="Inter"/>
              </a:rPr>
              <a:t>vector 128 chiều (128-d vector)</a:t>
            </a:r>
            <a:r>
              <a:rPr lang="en-US" sz="1425" b="0" i="0" u="none" strike="noStrike" cap="none">
                <a:solidFill>
                  <a:srgbClr val="CBD5E1"/>
                </a:solidFill>
                <a:latin typeface="Inter"/>
                <a:ea typeface="Inter"/>
                <a:cs typeface="Inter"/>
                <a:sym typeface="Inter"/>
              </a:rPr>
              <a:t> nhỏ gọn.</a:t>
            </a:r>
            <a:endParaRPr/>
          </a:p>
        </p:txBody>
      </p:sp>
      <p:sp>
        <p:nvSpPr>
          <p:cNvPr id="171" name="Google Shape;171;p18"/>
          <p:cNvSpPr txBox="1"/>
          <p:nvPr/>
        </p:nvSpPr>
        <p:spPr>
          <a:xfrm>
            <a:off x="571500" y="3894683"/>
            <a:ext cx="5286375" cy="1230510"/>
          </a:xfrm>
          <a:prstGeom prst="rect">
            <a:avLst/>
          </a:prstGeom>
          <a:noFill/>
          <a:ln>
            <a:noFill/>
          </a:ln>
        </p:spPr>
        <p:txBody>
          <a:bodyPr spcFirstLastPara="1" wrap="square" lIns="0" tIns="0" rIns="0" bIns="0" anchor="t" anchorCtr="0">
            <a:spAutoFit/>
          </a:bodyPr>
          <a:lstStyle/>
          <a:p>
            <a:pPr marL="0" marR="0" lvl="0" indent="0" algn="l" rtl="0">
              <a:lnSpc>
                <a:spcPct val="169964"/>
              </a:lnSpc>
              <a:spcBef>
                <a:spcPts val="0"/>
              </a:spcBef>
              <a:spcAft>
                <a:spcPts val="0"/>
              </a:spcAft>
              <a:buNone/>
            </a:pPr>
            <a:r>
              <a:rPr lang="en-US" sz="1425" b="0" i="0" u="none" strike="noStrike" cap="none">
                <a:solidFill>
                  <a:srgbClr val="CBD5E1"/>
                </a:solidFill>
                <a:latin typeface="Inter"/>
                <a:ea typeface="Inter"/>
                <a:cs typeface="Inter"/>
                <a:sym typeface="Inter"/>
              </a:rPr>
              <a:t>SFace được tinh chỉnh đặc biệt để đem lại độ chính xác cực cao đối với đặc điểm khuôn mặt của người châu Á, đồng thời hoạt động mượt mà trong điều kiện ánh sáng phức tạp tại các khu du lịch.</a:t>
            </a:r>
            <a:endParaRPr/>
          </a:p>
        </p:txBody>
      </p:sp>
      <p:sp>
        <p:nvSpPr>
          <p:cNvPr id="172" name="Google Shape;172;p18"/>
          <p:cNvSpPr txBox="1"/>
          <p:nvPr/>
        </p:nvSpPr>
        <p:spPr>
          <a:xfrm>
            <a:off x="571500" y="5353794"/>
            <a:ext cx="5286375" cy="922883"/>
          </a:xfrm>
          <a:prstGeom prst="rect">
            <a:avLst/>
          </a:prstGeom>
          <a:noFill/>
          <a:ln>
            <a:noFill/>
          </a:ln>
        </p:spPr>
        <p:txBody>
          <a:bodyPr spcFirstLastPara="1" wrap="square" lIns="0" tIns="0" rIns="0" bIns="0" anchor="t" anchorCtr="0">
            <a:spAutoFit/>
          </a:bodyPr>
          <a:lstStyle/>
          <a:p>
            <a:pPr marL="0" marR="0" lvl="0" indent="0" algn="l" rtl="0">
              <a:lnSpc>
                <a:spcPct val="169964"/>
              </a:lnSpc>
              <a:spcBef>
                <a:spcPts val="0"/>
              </a:spcBef>
              <a:spcAft>
                <a:spcPts val="0"/>
              </a:spcAft>
              <a:buNone/>
            </a:pPr>
            <a:r>
              <a:rPr lang="en-US" sz="1425" b="0" i="0" u="none" strike="noStrike" cap="none">
                <a:solidFill>
                  <a:srgbClr val="CBD5E1"/>
                </a:solidFill>
                <a:latin typeface="Inter"/>
                <a:ea typeface="Inter"/>
                <a:cs typeface="Inter"/>
                <a:sym typeface="Inter"/>
              </a:rPr>
              <a:t>Quy trình so sánh vector bằng Cosine Similarity cho phép trả về kết quả định danh chính xác gần như lập tức, giải quyết triệt để vấn đề gian lận mượn vé.</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8" name="Google Shape;178;p19" descr="image.png"/>
          <p:cNvPicPr preferRelativeResize="0"/>
          <p:nvPr/>
        </p:nvPicPr>
        <p:blipFill rotWithShape="1">
          <a:blip r:embed="rId4">
            <a:alphaModFix/>
          </a:blip>
          <a:srcRect/>
          <a:stretch/>
        </p:blipFill>
        <p:spPr>
          <a:xfrm>
            <a:off x="1011750" y="3429001"/>
            <a:ext cx="3331357" cy="3107061"/>
          </a:xfrm>
          <a:prstGeom prst="rect">
            <a:avLst/>
          </a:prstGeom>
          <a:noFill/>
          <a:ln>
            <a:noFill/>
          </a:ln>
        </p:spPr>
      </p:pic>
      <p:pic>
        <p:nvPicPr>
          <p:cNvPr id="179" name="Google Shape;179;p19" descr="image.png"/>
          <p:cNvPicPr preferRelativeResize="0"/>
          <p:nvPr/>
        </p:nvPicPr>
        <p:blipFill rotWithShape="1">
          <a:blip r:embed="rId5">
            <a:alphaModFix/>
          </a:blip>
          <a:srcRect/>
          <a:stretch/>
        </p:blipFill>
        <p:spPr>
          <a:xfrm>
            <a:off x="4615669" y="3429001"/>
            <a:ext cx="3331358" cy="3107061"/>
          </a:xfrm>
          <a:prstGeom prst="rect">
            <a:avLst/>
          </a:prstGeom>
          <a:noFill/>
          <a:ln>
            <a:noFill/>
          </a:ln>
        </p:spPr>
      </p:pic>
      <p:pic>
        <p:nvPicPr>
          <p:cNvPr id="180" name="Google Shape;180;p19" descr="image.png"/>
          <p:cNvPicPr preferRelativeResize="0"/>
          <p:nvPr/>
        </p:nvPicPr>
        <p:blipFill rotWithShape="1">
          <a:blip r:embed="rId6">
            <a:alphaModFix/>
          </a:blip>
          <a:srcRect/>
          <a:stretch/>
        </p:blipFill>
        <p:spPr>
          <a:xfrm>
            <a:off x="8219589" y="3429001"/>
            <a:ext cx="3331358" cy="3107061"/>
          </a:xfrm>
          <a:prstGeom prst="rect">
            <a:avLst/>
          </a:prstGeom>
          <a:noFill/>
          <a:ln>
            <a:noFill/>
          </a:ln>
        </p:spPr>
      </p:pic>
      <p:sp>
        <p:nvSpPr>
          <p:cNvPr id="181" name="Google Shape;181;p19"/>
          <p:cNvSpPr txBox="1"/>
          <p:nvPr/>
        </p:nvSpPr>
        <p:spPr>
          <a:xfrm>
            <a:off x="1247970" y="4401146"/>
            <a:ext cx="2627100" cy="26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17" b="0" i="0" u="none" strike="noStrike" cap="none">
                <a:solidFill>
                  <a:srgbClr val="E2E8F0"/>
                </a:solidFill>
                <a:latin typeface="Poppins SemiBold"/>
                <a:ea typeface="Poppins SemiBold"/>
                <a:cs typeface="Poppins SemiBold"/>
                <a:sym typeface="Poppins SemiBold"/>
              </a:rPr>
              <a:t>Dashboard Trực Quan</a:t>
            </a:r>
            <a:endParaRPr sz="1335"/>
          </a:p>
        </p:txBody>
      </p:sp>
      <p:sp>
        <p:nvSpPr>
          <p:cNvPr id="182" name="Google Shape;182;p19"/>
          <p:cNvSpPr txBox="1"/>
          <p:nvPr/>
        </p:nvSpPr>
        <p:spPr>
          <a:xfrm>
            <a:off x="1247970" y="4809992"/>
            <a:ext cx="2858700" cy="1466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88" b="0" i="0" u="none" strike="noStrike" cap="none">
                <a:solidFill>
                  <a:srgbClr val="CBD5E1"/>
                </a:solidFill>
                <a:latin typeface="Inter"/>
                <a:ea typeface="Inter"/>
                <a:cs typeface="Inter"/>
                <a:sym typeface="Inter"/>
              </a:rPr>
              <a:t>Bảng điều khiển cung cấp cái nhìn toàn cảnh về lưu lượng khách ra vào theo thời gian thực (Real-time), giúp ban quản lý đưa ra quyết định điều phối đám đông kịp thời.</a:t>
            </a:r>
            <a:endParaRPr sz="1335"/>
          </a:p>
        </p:txBody>
      </p:sp>
      <p:sp>
        <p:nvSpPr>
          <p:cNvPr id="183" name="Google Shape;183;p19"/>
          <p:cNvSpPr txBox="1"/>
          <p:nvPr/>
        </p:nvSpPr>
        <p:spPr>
          <a:xfrm>
            <a:off x="4851889" y="4401146"/>
            <a:ext cx="2076900" cy="26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17" b="0" i="0" u="none" strike="noStrike" cap="none">
                <a:solidFill>
                  <a:srgbClr val="E2E8F0"/>
                </a:solidFill>
                <a:latin typeface="Poppins SemiBold"/>
                <a:ea typeface="Poppins SemiBold"/>
                <a:cs typeface="Poppins SemiBold"/>
                <a:sym typeface="Poppins SemiBold"/>
              </a:rPr>
              <a:t>Audit Log Bảo Mật</a:t>
            </a:r>
            <a:endParaRPr sz="1335"/>
          </a:p>
        </p:txBody>
      </p:sp>
      <p:sp>
        <p:nvSpPr>
          <p:cNvPr id="184" name="Google Shape;184;p19"/>
          <p:cNvSpPr txBox="1"/>
          <p:nvPr/>
        </p:nvSpPr>
        <p:spPr>
          <a:xfrm>
            <a:off x="4851889" y="4809992"/>
            <a:ext cx="2858700" cy="1466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88" b="0" i="0" u="none" strike="noStrike" cap="none">
                <a:solidFill>
                  <a:srgbClr val="CBD5E1"/>
                </a:solidFill>
                <a:latin typeface="Inter"/>
                <a:ea typeface="Inter"/>
                <a:cs typeface="Inter"/>
                <a:sym typeface="Inter"/>
              </a:rPr>
              <a:t>Mọi thao tác can thiệp hệ thống, chỉnh sửa dữ liệu hay xử lý vé ngoại lệ đều được ghi vết (Audit Log) một cách minh bạch, ngăn ngừa gian lận từ bên trong nội bộ.</a:t>
            </a:r>
            <a:endParaRPr sz="1335"/>
          </a:p>
        </p:txBody>
      </p:sp>
      <p:sp>
        <p:nvSpPr>
          <p:cNvPr id="185" name="Google Shape;185;p19"/>
          <p:cNvSpPr txBox="1"/>
          <p:nvPr/>
        </p:nvSpPr>
        <p:spPr>
          <a:xfrm>
            <a:off x="8455809" y="4401146"/>
            <a:ext cx="1678800" cy="26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17" b="0" i="0" u="none" strike="noStrike" cap="none">
                <a:solidFill>
                  <a:srgbClr val="E2E8F0"/>
                </a:solidFill>
                <a:latin typeface="Poppins SemiBold"/>
                <a:ea typeface="Poppins SemiBold"/>
                <a:cs typeface="Poppins SemiBold"/>
                <a:sym typeface="Poppins SemiBold"/>
              </a:rPr>
              <a:t>Staff Presence</a:t>
            </a:r>
            <a:endParaRPr sz="1335"/>
          </a:p>
        </p:txBody>
      </p:sp>
      <p:sp>
        <p:nvSpPr>
          <p:cNvPr id="186" name="Google Shape;186;p19"/>
          <p:cNvSpPr txBox="1"/>
          <p:nvPr/>
        </p:nvSpPr>
        <p:spPr>
          <a:xfrm>
            <a:off x="8455809" y="4809992"/>
            <a:ext cx="2858700" cy="1466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88" b="0" i="0" u="none" strike="noStrike" cap="none">
                <a:solidFill>
                  <a:srgbClr val="CBD5E1"/>
                </a:solidFill>
                <a:latin typeface="Inter"/>
                <a:ea typeface="Inter"/>
                <a:cs typeface="Inter"/>
                <a:sym typeface="Inter"/>
              </a:rPr>
              <a:t>Sử dụng công nghệ WebSocket để duy trì kết nối hai chiều, cho phép hệ thống giám sát trạng thái trực tuyến của toàn bộ nhân viên soát vé tại từng cổng làm việc.</a:t>
            </a:r>
            <a:endParaRPr sz="1335"/>
          </a:p>
        </p:txBody>
      </p:sp>
      <p:pic>
        <p:nvPicPr>
          <p:cNvPr id="187" name="Google Shape;187;p19" descr="image.png"/>
          <p:cNvPicPr preferRelativeResize="0"/>
          <p:nvPr/>
        </p:nvPicPr>
        <p:blipFill rotWithShape="1">
          <a:blip r:embed="rId7">
            <a:alphaModFix/>
          </a:blip>
          <a:srcRect/>
          <a:stretch/>
        </p:blipFill>
        <p:spPr>
          <a:xfrm>
            <a:off x="1247970" y="3746993"/>
            <a:ext cx="381586" cy="381586"/>
          </a:xfrm>
          <a:prstGeom prst="rect">
            <a:avLst/>
          </a:prstGeom>
          <a:noFill/>
          <a:ln>
            <a:noFill/>
          </a:ln>
        </p:spPr>
      </p:pic>
      <p:pic>
        <p:nvPicPr>
          <p:cNvPr id="188" name="Google Shape;188;p19" descr="image.png"/>
          <p:cNvPicPr preferRelativeResize="0"/>
          <p:nvPr/>
        </p:nvPicPr>
        <p:blipFill rotWithShape="1">
          <a:blip r:embed="rId8">
            <a:alphaModFix/>
          </a:blip>
          <a:srcRect/>
          <a:stretch/>
        </p:blipFill>
        <p:spPr>
          <a:xfrm>
            <a:off x="4851889" y="3746993"/>
            <a:ext cx="381586" cy="381590"/>
          </a:xfrm>
          <a:prstGeom prst="rect">
            <a:avLst/>
          </a:prstGeom>
          <a:noFill/>
          <a:ln>
            <a:noFill/>
          </a:ln>
        </p:spPr>
      </p:pic>
      <p:pic>
        <p:nvPicPr>
          <p:cNvPr id="189" name="Google Shape;189;p19" descr="image.png"/>
          <p:cNvPicPr preferRelativeResize="0"/>
          <p:nvPr/>
        </p:nvPicPr>
        <p:blipFill rotWithShape="1">
          <a:blip r:embed="rId9">
            <a:alphaModFix/>
          </a:blip>
          <a:srcRect/>
          <a:stretch/>
        </p:blipFill>
        <p:spPr>
          <a:xfrm>
            <a:off x="8455809" y="3746993"/>
            <a:ext cx="481526" cy="381586"/>
          </a:xfrm>
          <a:prstGeom prst="rect">
            <a:avLst/>
          </a:prstGeom>
          <a:noFill/>
          <a:ln>
            <a:noFill/>
          </a:ln>
        </p:spPr>
      </p:pic>
      <p:sp>
        <p:nvSpPr>
          <p:cNvPr id="190" name="Google Shape;190;p19"/>
          <p:cNvSpPr txBox="1"/>
          <p:nvPr/>
        </p:nvSpPr>
        <p:spPr>
          <a:xfrm>
            <a:off x="295200" y="1452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QUẢN TRỊ VẬN HÀNH REAL-TIME</a:t>
            </a:r>
            <a:endParaRPr/>
          </a:p>
        </p:txBody>
      </p:sp>
      <p:pic>
        <p:nvPicPr>
          <p:cNvPr id="191" name="Google Shape;191;p19"/>
          <p:cNvPicPr preferRelativeResize="0"/>
          <p:nvPr/>
        </p:nvPicPr>
        <p:blipFill>
          <a:blip r:embed="rId10">
            <a:alphaModFix/>
          </a:blip>
          <a:stretch>
            <a:fillRect/>
          </a:stretch>
        </p:blipFill>
        <p:spPr>
          <a:xfrm>
            <a:off x="3470750" y="698250"/>
            <a:ext cx="5621199" cy="2730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7" name="Google Shape;197;p20" descr="image.png"/>
          <p:cNvPicPr preferRelativeResize="0"/>
          <p:nvPr/>
        </p:nvPicPr>
        <p:blipFill rotWithShape="1">
          <a:blip r:embed="rId4">
            <a:alphaModFix/>
          </a:blip>
          <a:srcRect/>
          <a:stretch/>
        </p:blipFill>
        <p:spPr>
          <a:xfrm>
            <a:off x="109925" y="1398600"/>
            <a:ext cx="4530666" cy="5093375"/>
          </a:xfrm>
          <a:prstGeom prst="rect">
            <a:avLst/>
          </a:prstGeom>
          <a:noFill/>
          <a:ln>
            <a:noFill/>
          </a:ln>
        </p:spPr>
      </p:pic>
      <p:pic>
        <p:nvPicPr>
          <p:cNvPr id="198" name="Google Shape;198;p20" descr="image.png"/>
          <p:cNvPicPr preferRelativeResize="0"/>
          <p:nvPr/>
        </p:nvPicPr>
        <p:blipFill rotWithShape="1">
          <a:blip r:embed="rId5">
            <a:alphaModFix/>
          </a:blip>
          <a:srcRect/>
          <a:stretch/>
        </p:blipFill>
        <p:spPr>
          <a:xfrm>
            <a:off x="5048759" y="1398600"/>
            <a:ext cx="4530666" cy="5093375"/>
          </a:xfrm>
          <a:prstGeom prst="rect">
            <a:avLst/>
          </a:prstGeom>
          <a:noFill/>
          <a:ln>
            <a:noFill/>
          </a:ln>
        </p:spPr>
      </p:pic>
      <p:sp>
        <p:nvSpPr>
          <p:cNvPr id="199" name="Google Shape;199;p20"/>
          <p:cNvSpPr txBox="1"/>
          <p:nvPr/>
        </p:nvSpPr>
        <p:spPr>
          <a:xfrm>
            <a:off x="444623" y="1788081"/>
            <a:ext cx="4054500" cy="644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94" b="0" i="0" u="none" strike="noStrike" cap="none">
                <a:solidFill>
                  <a:srgbClr val="38BDF8"/>
                </a:solidFill>
                <a:latin typeface="Poppins SemiBold"/>
                <a:ea typeface="Poppins SemiBold"/>
                <a:cs typeface="Poppins SemiBold"/>
                <a:sym typeface="Poppins SemiBold"/>
              </a:rPr>
              <a:t>Ứng Dụng Khách Hàng (Customer)</a:t>
            </a:r>
            <a:endParaRPr sz="1396"/>
          </a:p>
        </p:txBody>
      </p:sp>
      <p:sp>
        <p:nvSpPr>
          <p:cNvPr id="200" name="Google Shape;200;p20"/>
          <p:cNvSpPr/>
          <p:nvPr/>
        </p:nvSpPr>
        <p:spPr>
          <a:xfrm>
            <a:off x="444623" y="2728534"/>
            <a:ext cx="3861000" cy="9600"/>
          </a:xfrm>
          <a:prstGeom prst="rect">
            <a:avLst/>
          </a:prstGeom>
          <a:solidFill>
            <a:srgbClr val="334155"/>
          </a:solidFill>
          <a:ln>
            <a:noFill/>
          </a:ln>
        </p:spPr>
        <p:txBody>
          <a:bodyPr spcFirstLastPara="1" wrap="square" lIns="91150" tIns="45575" rIns="91150" bIns="45575" anchor="ctr" anchorCtr="0">
            <a:noAutofit/>
          </a:bodyPr>
          <a:lstStyle/>
          <a:p>
            <a:pPr marL="0" marR="0" lvl="0" indent="0" algn="ctr" rtl="0">
              <a:spcBef>
                <a:spcPts val="0"/>
              </a:spcBef>
              <a:spcAft>
                <a:spcPts val="0"/>
              </a:spcAft>
              <a:buNone/>
            </a:pPr>
            <a:endParaRPr sz="1795" b="0" i="0" u="none" strike="noStrike" cap="none">
              <a:solidFill>
                <a:schemeClr val="dk1"/>
              </a:solidFill>
              <a:latin typeface="Calibri"/>
              <a:ea typeface="Calibri"/>
              <a:cs typeface="Calibri"/>
              <a:sym typeface="Calibri"/>
            </a:endParaRPr>
          </a:p>
        </p:txBody>
      </p:sp>
      <p:sp>
        <p:nvSpPr>
          <p:cNvPr id="201" name="Google Shape;201;p20"/>
          <p:cNvSpPr txBox="1"/>
          <p:nvPr/>
        </p:nvSpPr>
        <p:spPr>
          <a:xfrm>
            <a:off x="444623" y="2928024"/>
            <a:ext cx="3861000" cy="53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Mang lại sự tiện lợi tối đa cho du khách trước khi đến khu du lịch:</a:t>
            </a:r>
            <a:endParaRPr sz="1396"/>
          </a:p>
        </p:txBody>
      </p:sp>
      <p:sp>
        <p:nvSpPr>
          <p:cNvPr id="202" name="Google Shape;202;p20"/>
          <p:cNvSpPr txBox="1"/>
          <p:nvPr/>
        </p:nvSpPr>
        <p:spPr>
          <a:xfrm>
            <a:off x="5383457" y="1788081"/>
            <a:ext cx="4054500" cy="644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94" b="0" i="0" u="none" strike="noStrike" cap="none">
                <a:solidFill>
                  <a:srgbClr val="38BDF8"/>
                </a:solidFill>
                <a:latin typeface="Poppins SemiBold"/>
                <a:ea typeface="Poppins SemiBold"/>
                <a:cs typeface="Poppins SemiBold"/>
                <a:sym typeface="Poppins SemiBold"/>
              </a:rPr>
              <a:t>Ứng Dụng Nhân Viên (Staff Gate)</a:t>
            </a:r>
            <a:endParaRPr sz="1396"/>
          </a:p>
        </p:txBody>
      </p:sp>
      <p:sp>
        <p:nvSpPr>
          <p:cNvPr id="203" name="Google Shape;203;p20"/>
          <p:cNvSpPr/>
          <p:nvPr/>
        </p:nvSpPr>
        <p:spPr>
          <a:xfrm>
            <a:off x="5383457" y="2728534"/>
            <a:ext cx="3861000" cy="9600"/>
          </a:xfrm>
          <a:prstGeom prst="rect">
            <a:avLst/>
          </a:prstGeom>
          <a:solidFill>
            <a:srgbClr val="334155"/>
          </a:solidFill>
          <a:ln>
            <a:noFill/>
          </a:ln>
        </p:spPr>
        <p:txBody>
          <a:bodyPr spcFirstLastPara="1" wrap="square" lIns="91150" tIns="45575" rIns="91150" bIns="45575" anchor="ctr" anchorCtr="0">
            <a:noAutofit/>
          </a:bodyPr>
          <a:lstStyle/>
          <a:p>
            <a:pPr marL="0" marR="0" lvl="0" indent="0" algn="ctr" rtl="0">
              <a:spcBef>
                <a:spcPts val="0"/>
              </a:spcBef>
              <a:spcAft>
                <a:spcPts val="0"/>
              </a:spcAft>
              <a:buNone/>
            </a:pPr>
            <a:endParaRPr sz="1795" b="0" i="0" u="none" strike="noStrike" cap="none">
              <a:solidFill>
                <a:schemeClr val="dk1"/>
              </a:solidFill>
              <a:latin typeface="Calibri"/>
              <a:ea typeface="Calibri"/>
              <a:cs typeface="Calibri"/>
              <a:sym typeface="Calibri"/>
            </a:endParaRPr>
          </a:p>
        </p:txBody>
      </p:sp>
      <p:sp>
        <p:nvSpPr>
          <p:cNvPr id="204" name="Google Shape;204;p20"/>
          <p:cNvSpPr txBox="1"/>
          <p:nvPr/>
        </p:nvSpPr>
        <p:spPr>
          <a:xfrm>
            <a:off x="5383457" y="2928024"/>
            <a:ext cx="3861000" cy="53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Công cụ đắc lực hỗ trợ điều hành trực tiếp tại hiện trường:</a:t>
            </a:r>
            <a:endParaRPr sz="1396"/>
          </a:p>
        </p:txBody>
      </p:sp>
      <p:sp>
        <p:nvSpPr>
          <p:cNvPr id="205" name="Google Shape;205;p20"/>
          <p:cNvSpPr txBox="1"/>
          <p:nvPr/>
        </p:nvSpPr>
        <p:spPr>
          <a:xfrm>
            <a:off x="567073" y="3616680"/>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06" name="Google Shape;206;p20"/>
          <p:cNvSpPr txBox="1"/>
          <p:nvPr/>
        </p:nvSpPr>
        <p:spPr>
          <a:xfrm>
            <a:off x="648707" y="3617631"/>
            <a:ext cx="3657600" cy="5388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Mua vé trực tuyến và thanh toán nhanh chóng.</a:t>
            </a:r>
            <a:endParaRPr sz="1396"/>
          </a:p>
        </p:txBody>
      </p:sp>
      <p:sp>
        <p:nvSpPr>
          <p:cNvPr id="207" name="Google Shape;207;p20"/>
          <p:cNvSpPr txBox="1"/>
          <p:nvPr/>
        </p:nvSpPr>
        <p:spPr>
          <a:xfrm>
            <a:off x="567073" y="4032731"/>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08" name="Google Shape;208;p20"/>
          <p:cNvSpPr txBox="1"/>
          <p:nvPr/>
        </p:nvSpPr>
        <p:spPr>
          <a:xfrm>
            <a:off x="648707" y="4033680"/>
            <a:ext cx="3657600" cy="5388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Sở hữu mã QR vé điện tử động chống chụp màn hình.</a:t>
            </a:r>
            <a:endParaRPr sz="1396"/>
          </a:p>
        </p:txBody>
      </p:sp>
      <p:sp>
        <p:nvSpPr>
          <p:cNvPr id="209" name="Google Shape;209;p20"/>
          <p:cNvSpPr txBox="1"/>
          <p:nvPr/>
        </p:nvSpPr>
        <p:spPr>
          <a:xfrm>
            <a:off x="567073" y="4722336"/>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10" name="Google Shape;210;p20"/>
          <p:cNvSpPr txBox="1"/>
          <p:nvPr/>
        </p:nvSpPr>
        <p:spPr>
          <a:xfrm>
            <a:off x="648707" y="4723287"/>
            <a:ext cx="3657600" cy="8703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1" i="0" u="none" strike="noStrike" cap="none">
                <a:solidFill>
                  <a:srgbClr val="CBD5E1"/>
                </a:solidFill>
                <a:latin typeface="Inter"/>
                <a:ea typeface="Inter"/>
                <a:cs typeface="Inter"/>
                <a:sym typeface="Inter"/>
              </a:rPr>
              <a:t>Đăng ký khuôn mặt chủ động:</a:t>
            </a:r>
            <a:r>
              <a:rPr lang="en-US" sz="1346" b="0" i="0" u="none" strike="noStrike" cap="none">
                <a:solidFill>
                  <a:srgbClr val="CBD5E1"/>
                </a:solidFill>
                <a:latin typeface="Inter"/>
                <a:ea typeface="Inter"/>
                <a:cs typeface="Inter"/>
                <a:sym typeface="Inter"/>
              </a:rPr>
              <a:t> Khách tự selfie và upload ảnh khuôn mặt lên hệ thống để liên kết với vé trước chuyến đi.</a:t>
            </a:r>
            <a:endParaRPr sz="1396"/>
          </a:p>
        </p:txBody>
      </p:sp>
      <p:sp>
        <p:nvSpPr>
          <p:cNvPr id="211" name="Google Shape;211;p20"/>
          <p:cNvSpPr txBox="1"/>
          <p:nvPr/>
        </p:nvSpPr>
        <p:spPr>
          <a:xfrm>
            <a:off x="567073" y="5685500"/>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12" name="Google Shape;212;p20"/>
          <p:cNvSpPr txBox="1"/>
          <p:nvPr/>
        </p:nvSpPr>
        <p:spPr>
          <a:xfrm>
            <a:off x="648707" y="5686449"/>
            <a:ext cx="3657600" cy="5388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Theo dõi lịch sử sử dụng vé và thông tin sự kiện.</a:t>
            </a:r>
            <a:endParaRPr sz="1396"/>
          </a:p>
        </p:txBody>
      </p:sp>
      <p:sp>
        <p:nvSpPr>
          <p:cNvPr id="213" name="Google Shape;213;p20"/>
          <p:cNvSpPr txBox="1"/>
          <p:nvPr/>
        </p:nvSpPr>
        <p:spPr>
          <a:xfrm>
            <a:off x="5505907" y="3616680"/>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14" name="Google Shape;214;p20"/>
          <p:cNvSpPr txBox="1"/>
          <p:nvPr/>
        </p:nvSpPr>
        <p:spPr>
          <a:xfrm>
            <a:off x="5587541" y="3617631"/>
            <a:ext cx="3657600" cy="8703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1" i="0" u="none" strike="noStrike" cap="none">
                <a:solidFill>
                  <a:srgbClr val="CBD5E1"/>
                </a:solidFill>
                <a:latin typeface="Inter"/>
                <a:ea typeface="Inter"/>
                <a:cs typeface="Inter"/>
                <a:sym typeface="Inter"/>
              </a:rPr>
              <a:t>Soát vé di động:</a:t>
            </a:r>
            <a:r>
              <a:rPr lang="en-US" sz="1346" b="0" i="0" u="none" strike="noStrike" cap="none">
                <a:solidFill>
                  <a:srgbClr val="CBD5E1"/>
                </a:solidFill>
                <a:latin typeface="Inter"/>
                <a:ea typeface="Inter"/>
                <a:cs typeface="Inter"/>
                <a:sym typeface="Inter"/>
              </a:rPr>
              <a:t> Camera tích hợp quét mã QR và xác thực khuôn mặt khách hàng tự động chỉ trong tích tắc.</a:t>
            </a:r>
            <a:endParaRPr sz="1396"/>
          </a:p>
        </p:txBody>
      </p:sp>
      <p:sp>
        <p:nvSpPr>
          <p:cNvPr id="215" name="Google Shape;215;p20"/>
          <p:cNvSpPr txBox="1"/>
          <p:nvPr/>
        </p:nvSpPr>
        <p:spPr>
          <a:xfrm>
            <a:off x="5505907" y="4579844"/>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16" name="Google Shape;216;p20"/>
          <p:cNvSpPr txBox="1"/>
          <p:nvPr/>
        </p:nvSpPr>
        <p:spPr>
          <a:xfrm>
            <a:off x="5587541" y="4580794"/>
            <a:ext cx="3657600" cy="2073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Bán vé tại quầy cho khách vãng lai.</a:t>
            </a:r>
            <a:endParaRPr sz="1396"/>
          </a:p>
        </p:txBody>
      </p:sp>
      <p:sp>
        <p:nvSpPr>
          <p:cNvPr id="217" name="Google Shape;217;p20"/>
          <p:cNvSpPr txBox="1"/>
          <p:nvPr/>
        </p:nvSpPr>
        <p:spPr>
          <a:xfrm>
            <a:off x="5505907" y="4995893"/>
            <a:ext cx="81900" cy="20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46" b="0" i="0" u="none" strike="noStrike" cap="none">
                <a:solidFill>
                  <a:srgbClr val="CBD5E1"/>
                </a:solidFill>
                <a:latin typeface="Inter"/>
                <a:ea typeface="Inter"/>
                <a:cs typeface="Inter"/>
                <a:sym typeface="Inter"/>
              </a:rPr>
              <a:t>•</a:t>
            </a:r>
            <a:endParaRPr sz="1396"/>
          </a:p>
        </p:txBody>
      </p:sp>
      <p:sp>
        <p:nvSpPr>
          <p:cNvPr id="218" name="Google Shape;218;p20"/>
          <p:cNvSpPr txBox="1"/>
          <p:nvPr/>
        </p:nvSpPr>
        <p:spPr>
          <a:xfrm>
            <a:off x="5587541" y="4996843"/>
            <a:ext cx="3657600" cy="870300"/>
          </a:xfrm>
          <a:prstGeom prst="rect">
            <a:avLst/>
          </a:prstGeom>
          <a:noFill/>
          <a:ln>
            <a:noFill/>
          </a:ln>
        </p:spPr>
        <p:txBody>
          <a:bodyPr spcFirstLastPara="1" wrap="square" lIns="94975" tIns="0" rIns="0" bIns="0" anchor="t" anchorCtr="0">
            <a:spAutoFit/>
          </a:bodyPr>
          <a:lstStyle/>
          <a:p>
            <a:pPr marL="0" marR="0" lvl="0" indent="0" algn="l" rtl="0">
              <a:lnSpc>
                <a:spcPct val="160000"/>
              </a:lnSpc>
              <a:spcBef>
                <a:spcPts val="0"/>
              </a:spcBef>
              <a:spcAft>
                <a:spcPts val="0"/>
              </a:spcAft>
              <a:buNone/>
            </a:pPr>
            <a:r>
              <a:rPr lang="en-US" sz="1346" b="0" i="0" u="none" strike="noStrike" cap="none">
                <a:solidFill>
                  <a:srgbClr val="CBD5E1"/>
                </a:solidFill>
                <a:latin typeface="Inter"/>
                <a:ea typeface="Inter"/>
                <a:cs typeface="Inter"/>
                <a:sym typeface="Inter"/>
              </a:rPr>
              <a:t>Giao diện xử lý ngoại lệ (vé lỗi, sai thông tin) được kết nối thẳng tới Database trung tâm.</a:t>
            </a:r>
            <a:endParaRPr sz="1396"/>
          </a:p>
        </p:txBody>
      </p:sp>
      <p:sp>
        <p:nvSpPr>
          <p:cNvPr id="219" name="Google Shape;219;p20"/>
          <p:cNvSpPr txBox="1"/>
          <p:nvPr/>
        </p:nvSpPr>
        <p:spPr>
          <a:xfrm>
            <a:off x="571500" y="399305"/>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HỆ SINH THÁI MOBILE APP</a:t>
            </a:r>
            <a:endParaRPr/>
          </a:p>
        </p:txBody>
      </p:sp>
      <p:pic>
        <p:nvPicPr>
          <p:cNvPr id="220" name="Google Shape;220;p20" title="app2_khachhang_danhsachve.jpg"/>
          <p:cNvPicPr preferRelativeResize="0"/>
          <p:nvPr/>
        </p:nvPicPr>
        <p:blipFill>
          <a:blip r:embed="rId6">
            <a:alphaModFix/>
          </a:blip>
          <a:stretch>
            <a:fillRect/>
          </a:stretch>
        </p:blipFill>
        <p:spPr>
          <a:xfrm>
            <a:off x="9835850" y="1526774"/>
            <a:ext cx="2177325" cy="4720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6" name="Google Shape;226;p21"/>
          <p:cNvSpPr txBox="1"/>
          <p:nvPr/>
        </p:nvSpPr>
        <p:spPr>
          <a:xfrm>
            <a:off x="571500" y="1345257"/>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Nâng tầm dịch vụ khách hàng với giải pháp tự động hóa giao tiếp:</a:t>
            </a:r>
            <a:endParaRPr/>
          </a:p>
        </p:txBody>
      </p:sp>
      <p:sp>
        <p:nvSpPr>
          <p:cNvPr id="227" name="Google Shape;227;p21"/>
          <p:cNvSpPr txBox="1"/>
          <p:nvPr/>
        </p:nvSpPr>
        <p:spPr>
          <a:xfrm>
            <a:off x="1143000" y="2179587"/>
            <a:ext cx="4714875" cy="12342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Hỗ Trợ Thông Minh</a:t>
            </a:r>
            <a:r>
              <a:rPr lang="en-US" sz="1350" b="0" i="0" u="none" strike="noStrike" cap="none">
                <a:solidFill>
                  <a:srgbClr val="CBD5E1"/>
                </a:solidFill>
                <a:latin typeface="Inter"/>
                <a:ea typeface="Inter"/>
                <a:cs typeface="Inter"/>
                <a:sym typeface="Inter"/>
              </a:rPr>
              <a:t> Chatbot AI tự động giải đáp các thắc mắc thường gặp (FAQ) về giá vé, giờ mở cửa, cách thức check-in bằng khuôn mặt.</a:t>
            </a:r>
            <a:endParaRPr/>
          </a:p>
        </p:txBody>
      </p:sp>
      <p:sp>
        <p:nvSpPr>
          <p:cNvPr id="228" name="Google Shape;228;p21"/>
          <p:cNvSpPr txBox="1"/>
          <p:nvPr/>
        </p:nvSpPr>
        <p:spPr>
          <a:xfrm>
            <a:off x="1143000" y="3699569"/>
            <a:ext cx="4714875"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Đa Nền Tảng</a:t>
            </a:r>
            <a:r>
              <a:rPr lang="en-US" sz="1350" b="0" i="0" u="none" strike="noStrike" cap="none">
                <a:solidFill>
                  <a:srgbClr val="CBD5E1"/>
                </a:solidFill>
                <a:latin typeface="Inter"/>
                <a:ea typeface="Inter"/>
                <a:cs typeface="Inter"/>
                <a:sym typeface="Inter"/>
              </a:rPr>
              <a:t> Hoạt động liền mạch trên Web Dashboard và Mobile App, tiếp cận khách hàng mọi lúc mọi nơi.</a:t>
            </a:r>
            <a:endParaRPr/>
          </a:p>
        </p:txBody>
      </p:sp>
      <p:sp>
        <p:nvSpPr>
          <p:cNvPr id="229" name="Google Shape;229;p21"/>
          <p:cNvSpPr txBox="1"/>
          <p:nvPr/>
        </p:nvSpPr>
        <p:spPr>
          <a:xfrm>
            <a:off x="1143000" y="4945260"/>
            <a:ext cx="4714875" cy="12342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Giảm Tải Tổng Đài</a:t>
            </a:r>
            <a:r>
              <a:rPr lang="en-US" sz="1350" b="0" i="0" u="none" strike="noStrike" cap="none">
                <a:solidFill>
                  <a:srgbClr val="CBD5E1"/>
                </a:solidFill>
                <a:latin typeface="Inter"/>
                <a:ea typeface="Inter"/>
                <a:cs typeface="Inter"/>
                <a:sym typeface="Inter"/>
              </a:rPr>
              <a:t> Giảm đáng kể khối lượng công việc cho nhân viên chăm sóc khách hàng, tập trung nguồn lực xử lý các sự cố phức tạp hơn.</a:t>
            </a:r>
            <a:endParaRPr/>
          </a:p>
        </p:txBody>
      </p:sp>
      <p:pic>
        <p:nvPicPr>
          <p:cNvPr id="230" name="Google Shape;230;p21" descr="image.png"/>
          <p:cNvPicPr preferRelativeResize="0"/>
          <p:nvPr/>
        </p:nvPicPr>
        <p:blipFill rotWithShape="1">
          <a:blip r:embed="rId4">
            <a:alphaModFix/>
          </a:blip>
          <a:srcRect/>
          <a:stretch/>
        </p:blipFill>
        <p:spPr>
          <a:xfrm>
            <a:off x="571500" y="2189112"/>
            <a:ext cx="381000" cy="323850"/>
          </a:xfrm>
          <a:prstGeom prst="rect">
            <a:avLst/>
          </a:prstGeom>
          <a:noFill/>
          <a:ln>
            <a:noFill/>
          </a:ln>
        </p:spPr>
      </p:pic>
      <p:pic>
        <p:nvPicPr>
          <p:cNvPr id="231" name="Google Shape;231;p21" descr="image.png"/>
          <p:cNvPicPr preferRelativeResize="0"/>
          <p:nvPr/>
        </p:nvPicPr>
        <p:blipFill rotWithShape="1">
          <a:blip r:embed="rId5">
            <a:alphaModFix/>
          </a:blip>
          <a:srcRect/>
          <a:stretch/>
        </p:blipFill>
        <p:spPr>
          <a:xfrm>
            <a:off x="571500" y="3709094"/>
            <a:ext cx="342900" cy="323850"/>
          </a:xfrm>
          <a:prstGeom prst="rect">
            <a:avLst/>
          </a:prstGeom>
          <a:noFill/>
          <a:ln>
            <a:noFill/>
          </a:ln>
        </p:spPr>
      </p:pic>
      <p:pic>
        <p:nvPicPr>
          <p:cNvPr id="232" name="Google Shape;232;p21" descr="image.png"/>
          <p:cNvPicPr preferRelativeResize="0"/>
          <p:nvPr/>
        </p:nvPicPr>
        <p:blipFill rotWithShape="1">
          <a:blip r:embed="rId6">
            <a:alphaModFix/>
          </a:blip>
          <a:srcRect/>
          <a:stretch/>
        </p:blipFill>
        <p:spPr>
          <a:xfrm>
            <a:off x="571500" y="4954785"/>
            <a:ext cx="304800" cy="323850"/>
          </a:xfrm>
          <a:prstGeom prst="rect">
            <a:avLst/>
          </a:prstGeom>
          <a:noFill/>
          <a:ln>
            <a:noFill/>
          </a:ln>
        </p:spPr>
      </p:pic>
      <p:sp>
        <p:nvSpPr>
          <p:cNvPr id="233" name="Google Shape;233;p21"/>
          <p:cNvSpPr txBox="1"/>
          <p:nvPr/>
        </p:nvSpPr>
        <p:spPr>
          <a:xfrm>
            <a:off x="571500" y="392757"/>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TRỢ LÝ AI CHATBOT 24/7</a:t>
            </a:r>
            <a:endParaRPr/>
          </a:p>
        </p:txBody>
      </p:sp>
      <p:pic>
        <p:nvPicPr>
          <p:cNvPr id="234" name="Google Shape;234;p21"/>
          <p:cNvPicPr preferRelativeResize="0"/>
          <p:nvPr/>
        </p:nvPicPr>
        <p:blipFill>
          <a:blip r:embed="rId7">
            <a:alphaModFix/>
          </a:blip>
          <a:stretch>
            <a:fillRect/>
          </a:stretch>
        </p:blipFill>
        <p:spPr>
          <a:xfrm>
            <a:off x="7832173" y="822950"/>
            <a:ext cx="2595575" cy="56272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0" name="Google Shape;240;p22" descr="image.png"/>
          <p:cNvPicPr preferRelativeResize="0"/>
          <p:nvPr/>
        </p:nvPicPr>
        <p:blipFill rotWithShape="1">
          <a:blip r:embed="rId4">
            <a:alphaModFix/>
          </a:blip>
          <a:srcRect/>
          <a:stretch/>
        </p:blipFill>
        <p:spPr>
          <a:xfrm>
            <a:off x="571500" y="1524000"/>
            <a:ext cx="5381625" cy="4161978"/>
          </a:xfrm>
          <a:prstGeom prst="rect">
            <a:avLst/>
          </a:prstGeom>
          <a:noFill/>
          <a:ln>
            <a:noFill/>
          </a:ln>
        </p:spPr>
      </p:pic>
      <p:pic>
        <p:nvPicPr>
          <p:cNvPr id="241" name="Google Shape;241;p22" descr="image.png"/>
          <p:cNvPicPr preferRelativeResize="0"/>
          <p:nvPr/>
        </p:nvPicPr>
        <p:blipFill rotWithShape="1">
          <a:blip r:embed="rId5">
            <a:alphaModFix/>
          </a:blip>
          <a:srcRect/>
          <a:stretch/>
        </p:blipFill>
        <p:spPr>
          <a:xfrm>
            <a:off x="6238875" y="1524000"/>
            <a:ext cx="5381625" cy="4161978"/>
          </a:xfrm>
          <a:prstGeom prst="rect">
            <a:avLst/>
          </a:prstGeom>
          <a:noFill/>
          <a:ln>
            <a:noFill/>
          </a:ln>
        </p:spPr>
      </p:pic>
      <p:sp>
        <p:nvSpPr>
          <p:cNvPr id="242" name="Google Shape;242;p22"/>
          <p:cNvSpPr txBox="1"/>
          <p:nvPr/>
        </p:nvSpPr>
        <p:spPr>
          <a:xfrm>
            <a:off x="962025" y="2667000"/>
            <a:ext cx="4830603" cy="800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2E8F0"/>
                </a:solidFill>
                <a:latin typeface="Poppins SemiBold"/>
                <a:ea typeface="Poppins SemiBold"/>
                <a:cs typeface="Poppins SemiBold"/>
                <a:sym typeface="Poppins SemiBold"/>
              </a:rPr>
              <a:t>Chế Độ Ẩn Danh (Anonymization)</a:t>
            </a:r>
            <a:endParaRPr/>
          </a:p>
        </p:txBody>
      </p:sp>
      <p:sp>
        <p:nvSpPr>
          <p:cNvPr id="243" name="Google Shape;243;p22"/>
          <p:cNvSpPr txBox="1"/>
          <p:nvPr/>
        </p:nvSpPr>
        <p:spPr>
          <a:xfrm>
            <a:off x="962025" y="3705225"/>
            <a:ext cx="4600575" cy="144735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Tôn trọng quyền riêng tư tuyệt đối: Hệ thống </a:t>
            </a:r>
            <a:r>
              <a:rPr lang="en-US" sz="1425" b="1" i="0" u="none" strike="noStrike" cap="none">
                <a:solidFill>
                  <a:srgbClr val="CBD5E1"/>
                </a:solidFill>
                <a:latin typeface="Inter"/>
                <a:ea typeface="Inter"/>
                <a:cs typeface="Inter"/>
                <a:sym typeface="Inter"/>
              </a:rPr>
              <a:t>không lưu trữ ảnh gốc</a:t>
            </a:r>
            <a:r>
              <a:rPr lang="en-US" sz="1425" b="0" i="0" u="none" strike="noStrike" cap="none">
                <a:solidFill>
                  <a:srgbClr val="CBD5E1"/>
                </a:solidFill>
                <a:latin typeface="Inter"/>
                <a:ea typeface="Inter"/>
                <a:cs typeface="Inter"/>
                <a:sym typeface="Inter"/>
              </a:rPr>
              <a:t> của khách hàng. Hình ảnh chụp được lập tức bị mã hóa thành các đặc trưng vector toán học không thể dịch ngược, loại bỏ rủi ro lộ lọt hình ảnh cá nhân.</a:t>
            </a:r>
            <a:endParaRPr/>
          </a:p>
        </p:txBody>
      </p:sp>
      <p:sp>
        <p:nvSpPr>
          <p:cNvPr id="244" name="Google Shape;244;p22"/>
          <p:cNvSpPr txBox="1"/>
          <p:nvPr/>
        </p:nvSpPr>
        <p:spPr>
          <a:xfrm>
            <a:off x="6629400" y="2667000"/>
            <a:ext cx="4079103"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2E8F0"/>
                </a:solidFill>
                <a:latin typeface="Poppins SemiBold"/>
                <a:ea typeface="Poppins SemiBold"/>
                <a:cs typeface="Poppins SemiBold"/>
                <a:sym typeface="Poppins SemiBold"/>
              </a:rPr>
              <a:t>Băm Dữ Liệu (Data Hashing)</a:t>
            </a:r>
            <a:endParaRPr/>
          </a:p>
        </p:txBody>
      </p:sp>
      <p:sp>
        <p:nvSpPr>
          <p:cNvPr id="245" name="Google Shape;245;p22"/>
          <p:cNvSpPr txBox="1"/>
          <p:nvPr/>
        </p:nvSpPr>
        <p:spPr>
          <a:xfrm>
            <a:off x="6629400" y="3305175"/>
            <a:ext cx="4600575" cy="144735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CBD5E1"/>
                </a:solidFill>
                <a:latin typeface="Inter"/>
                <a:ea typeface="Inter"/>
                <a:cs typeface="Inter"/>
                <a:sym typeface="Inter"/>
              </a:rPr>
              <a:t>Các thông tin định danh nhạy cảm như số Căn Cước Công Dân (CCCD) được bảo vệ qua thuật toán băm một chiều (Hashing) kết hợp Salt. Đảm bảo dữ liệu dù bị trích xuất cũng không thể khôi phục lại danh tính thật.</a:t>
            </a:r>
            <a:endParaRPr/>
          </a:p>
        </p:txBody>
      </p:sp>
      <p:pic>
        <p:nvPicPr>
          <p:cNvPr id="246" name="Google Shape;246;p22" descr="image.png"/>
          <p:cNvPicPr preferRelativeResize="0"/>
          <p:nvPr/>
        </p:nvPicPr>
        <p:blipFill rotWithShape="1">
          <a:blip r:embed="rId6">
            <a:alphaModFix/>
          </a:blip>
          <a:srcRect/>
          <a:stretch/>
        </p:blipFill>
        <p:spPr>
          <a:xfrm>
            <a:off x="962025" y="1914525"/>
            <a:ext cx="419100" cy="476250"/>
          </a:xfrm>
          <a:prstGeom prst="rect">
            <a:avLst/>
          </a:prstGeom>
          <a:noFill/>
          <a:ln>
            <a:noFill/>
          </a:ln>
        </p:spPr>
      </p:pic>
      <p:pic>
        <p:nvPicPr>
          <p:cNvPr id="247" name="Google Shape;247;p22" descr="image.png"/>
          <p:cNvPicPr preferRelativeResize="0"/>
          <p:nvPr/>
        </p:nvPicPr>
        <p:blipFill rotWithShape="1">
          <a:blip r:embed="rId7">
            <a:alphaModFix/>
          </a:blip>
          <a:srcRect/>
          <a:stretch/>
        </p:blipFill>
        <p:spPr>
          <a:xfrm>
            <a:off x="6629400" y="1914525"/>
            <a:ext cx="476250" cy="476250"/>
          </a:xfrm>
          <a:prstGeom prst="rect">
            <a:avLst/>
          </a:prstGeom>
          <a:noFill/>
          <a:ln>
            <a:noFill/>
          </a:ln>
        </p:spPr>
      </p:pic>
      <p:sp>
        <p:nvSpPr>
          <p:cNvPr id="248" name="Google Shape;248;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BẢO MẬT DỮ LIỆU KHÁCH HÀNG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 name="Google Shape;254;p23"/>
          <p:cNvSpPr txBox="1"/>
          <p:nvPr/>
        </p:nvSpPr>
        <p:spPr>
          <a:xfrm>
            <a:off x="571500" y="1895475"/>
            <a:ext cx="5029200" cy="1616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a:solidFill>
                  <a:srgbClr val="0EA5E9"/>
                </a:solidFill>
                <a:latin typeface="Poppins"/>
                <a:ea typeface="Poppins"/>
                <a:cs typeface="Poppins"/>
                <a:sym typeface="Poppins"/>
              </a:rPr>
              <a:t>3</a:t>
            </a:r>
            <a:r>
              <a:rPr lang="en-US" sz="10500" b="1" i="0" u="none" strike="noStrike" cap="none">
                <a:solidFill>
                  <a:srgbClr val="0EA5E9"/>
                </a:solidFill>
                <a:latin typeface="Poppins"/>
                <a:ea typeface="Poppins"/>
                <a:cs typeface="Poppins"/>
                <a:sym typeface="Poppins"/>
              </a:rPr>
              <a:t>s</a:t>
            </a:r>
            <a:endParaRPr/>
          </a:p>
        </p:txBody>
      </p:sp>
      <p:sp>
        <p:nvSpPr>
          <p:cNvPr id="255" name="Google Shape;255;p23"/>
          <p:cNvSpPr txBox="1"/>
          <p:nvPr/>
        </p:nvSpPr>
        <p:spPr>
          <a:xfrm>
            <a:off x="571500" y="3324225"/>
            <a:ext cx="5029200"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F8FAFC"/>
                </a:solidFill>
                <a:latin typeface="Inter Medium"/>
                <a:ea typeface="Inter Medium"/>
                <a:cs typeface="Inter Medium"/>
                <a:sym typeface="Inter Medium"/>
              </a:rPr>
              <a:t>Tốc độ xác thực trung bình/lượt</a:t>
            </a:r>
            <a:endParaRPr/>
          </a:p>
        </p:txBody>
      </p:sp>
      <p:sp>
        <p:nvSpPr>
          <p:cNvPr id="256" name="Google Shape;256;p23"/>
          <p:cNvSpPr txBox="1"/>
          <p:nvPr/>
        </p:nvSpPr>
        <p:spPr>
          <a:xfrm>
            <a:off x="571500" y="4000500"/>
            <a:ext cx="5029200" cy="1333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i="0" u="none" strike="noStrike" cap="none">
                <a:solidFill>
                  <a:srgbClr val="0EA5E9"/>
                </a:solidFill>
                <a:latin typeface="Poppins"/>
                <a:ea typeface="Poppins"/>
                <a:cs typeface="Poppins"/>
                <a:sym typeface="Poppins"/>
              </a:rPr>
              <a:t>100%</a:t>
            </a:r>
            <a:endParaRPr/>
          </a:p>
        </p:txBody>
      </p:sp>
      <p:sp>
        <p:nvSpPr>
          <p:cNvPr id="257" name="Google Shape;257;p23"/>
          <p:cNvSpPr txBox="1"/>
          <p:nvPr/>
        </p:nvSpPr>
        <p:spPr>
          <a:xfrm>
            <a:off x="571500" y="5429250"/>
            <a:ext cx="5029200"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F8FAFC"/>
                </a:solidFill>
                <a:latin typeface="Inter Medium"/>
                <a:ea typeface="Inter Medium"/>
                <a:cs typeface="Inter Medium"/>
                <a:sym typeface="Inter Medium"/>
              </a:rPr>
              <a:t>Vận hành ổn định trên Cloud</a:t>
            </a:r>
            <a:endParaRPr/>
          </a:p>
        </p:txBody>
      </p:sp>
      <p:sp>
        <p:nvSpPr>
          <p:cNvPr id="258" name="Google Shape;258;p23"/>
          <p:cNvSpPr txBox="1"/>
          <p:nvPr/>
        </p:nvSpPr>
        <p:spPr>
          <a:xfrm>
            <a:off x="6286500" y="1353889"/>
            <a:ext cx="560070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2E8F0"/>
                </a:solidFill>
                <a:latin typeface="Poppins SemiBold"/>
                <a:ea typeface="Poppins SemiBold"/>
                <a:cs typeface="Poppins SemiBold"/>
                <a:sym typeface="Poppins SemiBold"/>
              </a:rPr>
              <a:t>Vượt Kỳ Vọng Thiết Kế</a:t>
            </a:r>
            <a:endParaRPr/>
          </a:p>
        </p:txBody>
      </p:sp>
      <p:sp>
        <p:nvSpPr>
          <p:cNvPr id="259" name="Google Shape;259;p23"/>
          <p:cNvSpPr txBox="1"/>
          <p:nvPr/>
        </p:nvSpPr>
        <p:spPr>
          <a:xfrm>
            <a:off x="6286500" y="1896814"/>
            <a:ext cx="53340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Hệ thống đã trải qua quá trình thử nghiệm khắt khe và chứng minh được khả năng xử lý mượt mà, độ trễ cực thấp trong môi trường thực tế.</a:t>
            </a:r>
            <a:endParaRPr/>
          </a:p>
        </p:txBody>
      </p:sp>
      <p:sp>
        <p:nvSpPr>
          <p:cNvPr id="260" name="Google Shape;260;p23"/>
          <p:cNvSpPr txBox="1"/>
          <p:nvPr/>
        </p:nvSpPr>
        <p:spPr>
          <a:xfrm>
            <a:off x="6858000" y="2910185"/>
            <a:ext cx="4762500"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Hiệu Năng Cao:</a:t>
            </a:r>
            <a:r>
              <a:rPr lang="en-US" sz="1350" b="0" i="0" u="none" strike="noStrike" cap="none">
                <a:solidFill>
                  <a:srgbClr val="CBD5E1"/>
                </a:solidFill>
                <a:latin typeface="Inter"/>
                <a:ea typeface="Inter"/>
                <a:cs typeface="Inter"/>
                <a:sym typeface="Inter"/>
              </a:rPr>
              <a:t> Thời gian từ lúc quét mã đến xác nhận khuôn mặt thành công chỉ mất trung bình 1.5 giây.</a:t>
            </a:r>
            <a:endParaRPr/>
          </a:p>
        </p:txBody>
      </p:sp>
      <p:sp>
        <p:nvSpPr>
          <p:cNvPr id="261" name="Google Shape;261;p23"/>
          <p:cNvSpPr txBox="1"/>
          <p:nvPr/>
        </p:nvSpPr>
        <p:spPr>
          <a:xfrm>
            <a:off x="6858000" y="4155876"/>
            <a:ext cx="4762500"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Sẵn Sàng Mở Rộng:</a:t>
            </a:r>
            <a:r>
              <a:rPr lang="en-US" sz="1350" b="0" i="0" u="none" strike="noStrike" cap="none">
                <a:solidFill>
                  <a:srgbClr val="CBD5E1"/>
                </a:solidFill>
                <a:latin typeface="Inter"/>
                <a:ea typeface="Inter"/>
                <a:cs typeface="Inter"/>
                <a:sym typeface="Inter"/>
              </a:rPr>
              <a:t> Kiến trúc Cloud chịu tải tốt, sẵn sàng triển khai trên quy mô hàng chục cổng soát vé cùng lúc.</a:t>
            </a:r>
            <a:endParaRPr/>
          </a:p>
        </p:txBody>
      </p:sp>
      <p:sp>
        <p:nvSpPr>
          <p:cNvPr id="262" name="Google Shape;262;p23"/>
          <p:cNvSpPr txBox="1"/>
          <p:nvPr/>
        </p:nvSpPr>
        <p:spPr>
          <a:xfrm>
            <a:off x="6858000" y="5401567"/>
            <a:ext cx="4762500" cy="9599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8FAFC"/>
                </a:solidFill>
                <a:latin typeface="Inter"/>
                <a:ea typeface="Inter"/>
                <a:cs typeface="Inter"/>
                <a:sym typeface="Inter"/>
              </a:rPr>
              <a:t>Chuyển Đổi Số Toàn Diện:</a:t>
            </a:r>
            <a:r>
              <a:rPr lang="en-US" sz="1350" b="0" i="0" u="none" strike="noStrike" cap="none">
                <a:solidFill>
                  <a:srgbClr val="CBD5E1"/>
                </a:solidFill>
                <a:latin typeface="Inter"/>
                <a:ea typeface="Inter"/>
                <a:cs typeface="Inter"/>
                <a:sym typeface="Inter"/>
              </a:rPr>
              <a:t> Hoàn toàn đủ khả năng thay thế quy trình kiểm soát vé bằng giấy truyền thống.</a:t>
            </a:r>
            <a:endParaRPr/>
          </a:p>
        </p:txBody>
      </p:sp>
      <p:pic>
        <p:nvPicPr>
          <p:cNvPr id="263" name="Google Shape;263;p23" descr="image.png"/>
          <p:cNvPicPr preferRelativeResize="0"/>
          <p:nvPr/>
        </p:nvPicPr>
        <p:blipFill rotWithShape="1">
          <a:blip r:embed="rId4">
            <a:alphaModFix/>
          </a:blip>
          <a:srcRect/>
          <a:stretch/>
        </p:blipFill>
        <p:spPr>
          <a:xfrm>
            <a:off x="6286500" y="2919710"/>
            <a:ext cx="266700" cy="323850"/>
          </a:xfrm>
          <a:prstGeom prst="rect">
            <a:avLst/>
          </a:prstGeom>
          <a:noFill/>
          <a:ln>
            <a:noFill/>
          </a:ln>
        </p:spPr>
      </p:pic>
      <p:pic>
        <p:nvPicPr>
          <p:cNvPr id="264" name="Google Shape;264;p23" descr="image.png"/>
          <p:cNvPicPr preferRelativeResize="0"/>
          <p:nvPr/>
        </p:nvPicPr>
        <p:blipFill rotWithShape="1">
          <a:blip r:embed="rId5">
            <a:alphaModFix/>
          </a:blip>
          <a:srcRect/>
          <a:stretch/>
        </p:blipFill>
        <p:spPr>
          <a:xfrm>
            <a:off x="6286500" y="4165401"/>
            <a:ext cx="266700" cy="323850"/>
          </a:xfrm>
          <a:prstGeom prst="rect">
            <a:avLst/>
          </a:prstGeom>
          <a:noFill/>
          <a:ln>
            <a:noFill/>
          </a:ln>
        </p:spPr>
      </p:pic>
      <p:pic>
        <p:nvPicPr>
          <p:cNvPr id="265" name="Google Shape;265;p23" descr="image.png"/>
          <p:cNvPicPr preferRelativeResize="0"/>
          <p:nvPr/>
        </p:nvPicPr>
        <p:blipFill rotWithShape="1">
          <a:blip r:embed="rId6">
            <a:alphaModFix/>
          </a:blip>
          <a:srcRect/>
          <a:stretch/>
        </p:blipFill>
        <p:spPr>
          <a:xfrm>
            <a:off x="6286500" y="5411092"/>
            <a:ext cx="342900" cy="323850"/>
          </a:xfrm>
          <a:prstGeom prst="rect">
            <a:avLst/>
          </a:prstGeom>
          <a:noFill/>
          <a:ln>
            <a:noFill/>
          </a:ln>
        </p:spPr>
      </p:pic>
      <p:sp>
        <p:nvSpPr>
          <p:cNvPr id="266" name="Google Shape;266;p23"/>
          <p:cNvSpPr txBox="1"/>
          <p:nvPr/>
        </p:nvSpPr>
        <p:spPr>
          <a:xfrm>
            <a:off x="571500" y="210889"/>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KẾT QUẢ TRIỂN KHAI THỰC TẾ</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2" name="Google Shape;272;p24" descr="image.png"/>
          <p:cNvPicPr preferRelativeResize="0"/>
          <p:nvPr/>
        </p:nvPicPr>
        <p:blipFill rotWithShape="1">
          <a:blip r:embed="rId4">
            <a:alphaModFix/>
          </a:blip>
          <a:srcRect/>
          <a:stretch/>
        </p:blipFill>
        <p:spPr>
          <a:xfrm>
            <a:off x="571500" y="1524000"/>
            <a:ext cx="5286375" cy="4564112"/>
          </a:xfrm>
          <a:prstGeom prst="rect">
            <a:avLst/>
          </a:prstGeom>
          <a:noFill/>
          <a:ln>
            <a:noFill/>
          </a:ln>
        </p:spPr>
      </p:pic>
      <p:pic>
        <p:nvPicPr>
          <p:cNvPr id="273" name="Google Shape;273;p24" descr="image.png"/>
          <p:cNvPicPr preferRelativeResize="0"/>
          <p:nvPr/>
        </p:nvPicPr>
        <p:blipFill rotWithShape="1">
          <a:blip r:embed="rId5">
            <a:alphaModFix/>
          </a:blip>
          <a:srcRect/>
          <a:stretch/>
        </p:blipFill>
        <p:spPr>
          <a:xfrm>
            <a:off x="6334125" y="1524000"/>
            <a:ext cx="5286375" cy="4564112"/>
          </a:xfrm>
          <a:prstGeom prst="rect">
            <a:avLst/>
          </a:prstGeom>
          <a:noFill/>
          <a:ln>
            <a:noFill/>
          </a:ln>
        </p:spPr>
      </p:pic>
      <p:sp>
        <p:nvSpPr>
          <p:cNvPr id="274" name="Google Shape;274;p24"/>
          <p:cNvSpPr txBox="1"/>
          <p:nvPr/>
        </p:nvSpPr>
        <p:spPr>
          <a:xfrm>
            <a:off x="962025" y="1914525"/>
            <a:ext cx="4730591"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Poppins SemiBold"/>
                <a:ea typeface="Poppins SemiBold"/>
                <a:cs typeface="Poppins SemiBold"/>
                <a:sym typeface="Poppins SemiBold"/>
              </a:rPr>
              <a:t>Tóm Tắt Ưu Điểm Hệ Thống</a:t>
            </a:r>
            <a:endParaRPr/>
          </a:p>
        </p:txBody>
      </p:sp>
      <p:sp>
        <p:nvSpPr>
          <p:cNvPr id="275" name="Google Shape;275;p24"/>
          <p:cNvSpPr/>
          <p:nvPr/>
        </p:nvSpPr>
        <p:spPr>
          <a:xfrm>
            <a:off x="962025" y="2457450"/>
            <a:ext cx="450532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4"/>
          <p:cNvSpPr txBox="1"/>
          <p:nvPr/>
        </p:nvSpPr>
        <p:spPr>
          <a:xfrm>
            <a:off x="962025" y="2657475"/>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Đồ án đã xây dựng thành công một giải pháp công nghệ toàn diện, mang tính ứng dụng thực tiễn cao:</a:t>
            </a:r>
            <a:endParaRPr/>
          </a:p>
        </p:txBody>
      </p:sp>
      <p:sp>
        <p:nvSpPr>
          <p:cNvPr id="277" name="Google Shape;277;p24"/>
          <p:cNvSpPr txBox="1"/>
          <p:nvPr/>
        </p:nvSpPr>
        <p:spPr>
          <a:xfrm>
            <a:off x="6724650" y="1914525"/>
            <a:ext cx="4730591"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Poppins SemiBold"/>
                <a:ea typeface="Poppins SemiBold"/>
                <a:cs typeface="Poppins SemiBold"/>
                <a:sym typeface="Poppins SemiBold"/>
              </a:rPr>
              <a:t>Hướng Tới Tương Lai (Edge AI)</a:t>
            </a:r>
            <a:endParaRPr/>
          </a:p>
        </p:txBody>
      </p:sp>
      <p:sp>
        <p:nvSpPr>
          <p:cNvPr id="278" name="Google Shape;278;p24"/>
          <p:cNvSpPr/>
          <p:nvPr/>
        </p:nvSpPr>
        <p:spPr>
          <a:xfrm>
            <a:off x="6724650" y="2457450"/>
            <a:ext cx="450532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4"/>
          <p:cNvSpPr txBox="1"/>
          <p:nvPr/>
        </p:nvSpPr>
        <p:spPr>
          <a:xfrm>
            <a:off x="6724650" y="2657475"/>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Định hướng phát triển tiếp theo của hệ thống nhằm đối phó với điều kiện hạ tầng mạng kém tại các khu du lịch thiên nhiên:</a:t>
            </a:r>
            <a:endParaRPr/>
          </a:p>
        </p:txBody>
      </p:sp>
      <p:sp>
        <p:nvSpPr>
          <p:cNvPr id="280" name="Google Shape;280;p24"/>
          <p:cNvSpPr txBox="1"/>
          <p:nvPr/>
        </p:nvSpPr>
        <p:spPr>
          <a:xfrm>
            <a:off x="1104900" y="3347977"/>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Inter"/>
                <a:ea typeface="Inter"/>
                <a:cs typeface="Inter"/>
                <a:sym typeface="Inter"/>
              </a:rPr>
              <a:t>•</a:t>
            </a:r>
            <a:endParaRPr/>
          </a:p>
        </p:txBody>
      </p:sp>
      <p:sp>
        <p:nvSpPr>
          <p:cNvPr id="281" name="Google Shape;281;p24"/>
          <p:cNvSpPr txBox="1"/>
          <p:nvPr/>
        </p:nvSpPr>
        <p:spPr>
          <a:xfrm>
            <a:off x="1200150" y="3348930"/>
            <a:ext cx="4267200" cy="54858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CBD5E1"/>
                </a:solidFill>
                <a:latin typeface="Inter"/>
                <a:ea typeface="Inter"/>
                <a:cs typeface="Inter"/>
                <a:sym typeface="Inter"/>
              </a:rPr>
              <a:t>Chống gian lận tuyệt đối:</a:t>
            </a:r>
            <a:r>
              <a:rPr lang="en-US" sz="1350" b="0" i="0" u="none" strike="noStrike" cap="none">
                <a:solidFill>
                  <a:srgbClr val="CBD5E1"/>
                </a:solidFill>
                <a:latin typeface="Inter"/>
                <a:ea typeface="Inter"/>
                <a:cs typeface="Inter"/>
                <a:sym typeface="Inter"/>
              </a:rPr>
              <a:t> Kết hợp mã hóa QR và sinh trắc học khuôn mặt AI.</a:t>
            </a:r>
            <a:endParaRPr/>
          </a:p>
        </p:txBody>
      </p:sp>
      <p:sp>
        <p:nvSpPr>
          <p:cNvPr id="282" name="Google Shape;282;p24"/>
          <p:cNvSpPr txBox="1"/>
          <p:nvPr/>
        </p:nvSpPr>
        <p:spPr>
          <a:xfrm>
            <a:off x="1104900" y="4039433"/>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Inter"/>
                <a:ea typeface="Inter"/>
                <a:cs typeface="Inter"/>
                <a:sym typeface="Inter"/>
              </a:rPr>
              <a:t>•</a:t>
            </a:r>
            <a:endParaRPr/>
          </a:p>
        </p:txBody>
      </p:sp>
      <p:sp>
        <p:nvSpPr>
          <p:cNvPr id="283" name="Google Shape;283;p24"/>
          <p:cNvSpPr txBox="1"/>
          <p:nvPr/>
        </p:nvSpPr>
        <p:spPr>
          <a:xfrm>
            <a:off x="1200150" y="4040385"/>
            <a:ext cx="4267200" cy="54858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CBD5E1"/>
                </a:solidFill>
                <a:latin typeface="Inter"/>
                <a:ea typeface="Inter"/>
                <a:cs typeface="Inter"/>
                <a:sym typeface="Inter"/>
              </a:rPr>
              <a:t>Tối ưu luồng khách:</a:t>
            </a:r>
            <a:r>
              <a:rPr lang="en-US" sz="1350" b="0" i="0" u="none" strike="noStrike" cap="none">
                <a:solidFill>
                  <a:srgbClr val="CBD5E1"/>
                </a:solidFill>
                <a:latin typeface="Inter"/>
                <a:ea typeface="Inter"/>
                <a:cs typeface="Inter"/>
                <a:sym typeface="Inter"/>
              </a:rPr>
              <a:t> Giảm ách tắc tại cổng thông qua quy trình check-in không chạm (touchless).</a:t>
            </a:r>
            <a:endParaRPr/>
          </a:p>
        </p:txBody>
      </p:sp>
      <p:sp>
        <p:nvSpPr>
          <p:cNvPr id="284" name="Google Shape;284;p24"/>
          <p:cNvSpPr txBox="1"/>
          <p:nvPr/>
        </p:nvSpPr>
        <p:spPr>
          <a:xfrm>
            <a:off x="1104900" y="4730888"/>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Inter"/>
                <a:ea typeface="Inter"/>
                <a:cs typeface="Inter"/>
                <a:sym typeface="Inter"/>
              </a:rPr>
              <a:t>•</a:t>
            </a:r>
            <a:endParaRPr/>
          </a:p>
        </p:txBody>
      </p:sp>
      <p:sp>
        <p:nvSpPr>
          <p:cNvPr id="285" name="Google Shape;285;p24"/>
          <p:cNvSpPr txBox="1"/>
          <p:nvPr/>
        </p:nvSpPr>
        <p:spPr>
          <a:xfrm>
            <a:off x="1200150" y="4731841"/>
            <a:ext cx="4267200" cy="82287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CBD5E1"/>
                </a:solidFill>
                <a:latin typeface="Inter"/>
                <a:ea typeface="Inter"/>
                <a:cs typeface="Inter"/>
                <a:sym typeface="Inter"/>
              </a:rPr>
              <a:t>Quản trị thông minh:</a:t>
            </a:r>
            <a:r>
              <a:rPr lang="en-US" sz="1350" b="0" i="0" u="none" strike="noStrike" cap="none">
                <a:solidFill>
                  <a:srgbClr val="CBD5E1"/>
                </a:solidFill>
                <a:latin typeface="Inter"/>
                <a:ea typeface="Inter"/>
                <a:cs typeface="Inter"/>
                <a:sym typeface="Inter"/>
              </a:rPr>
              <a:t> Cung cấp công cụ Dashboard theo dõi Real-time, minh bạch hóa toàn bộ quá trình vận hành.</a:t>
            </a:r>
            <a:endParaRPr/>
          </a:p>
        </p:txBody>
      </p:sp>
      <p:sp>
        <p:nvSpPr>
          <p:cNvPr id="286" name="Google Shape;286;p24"/>
          <p:cNvSpPr txBox="1"/>
          <p:nvPr/>
        </p:nvSpPr>
        <p:spPr>
          <a:xfrm>
            <a:off x="6867525" y="3622268"/>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Inter"/>
                <a:ea typeface="Inter"/>
                <a:cs typeface="Inter"/>
                <a:sym typeface="Inter"/>
              </a:rPr>
              <a:t>•</a:t>
            </a:r>
            <a:endParaRPr/>
          </a:p>
        </p:txBody>
      </p:sp>
      <p:sp>
        <p:nvSpPr>
          <p:cNvPr id="287" name="Google Shape;287;p24"/>
          <p:cNvSpPr txBox="1"/>
          <p:nvPr/>
        </p:nvSpPr>
        <p:spPr>
          <a:xfrm>
            <a:off x="6962775" y="3623220"/>
            <a:ext cx="4267200" cy="82287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CBD5E1"/>
                </a:solidFill>
                <a:latin typeface="Inter"/>
                <a:ea typeface="Inter"/>
                <a:cs typeface="Inter"/>
                <a:sym typeface="Inter"/>
              </a:rPr>
              <a:t>Tích hợp Edge AI:</a:t>
            </a:r>
            <a:r>
              <a:rPr lang="en-US" sz="1350" b="0" i="0" u="none" strike="noStrike" cap="none">
                <a:solidFill>
                  <a:srgbClr val="CBD5E1"/>
                </a:solidFill>
                <a:latin typeface="Inter"/>
                <a:ea typeface="Inter"/>
                <a:cs typeface="Inter"/>
                <a:sym typeface="Inter"/>
              </a:rPr>
              <a:t> Đưa mô hình nhận diện khuôn mặt xuống chạy trực tiếp tại thiết bị cổng soát vé (Offline mode).</a:t>
            </a:r>
            <a:endParaRPr/>
          </a:p>
        </p:txBody>
      </p:sp>
      <p:sp>
        <p:nvSpPr>
          <p:cNvPr id="288" name="Google Shape;288;p24"/>
          <p:cNvSpPr txBox="1"/>
          <p:nvPr/>
        </p:nvSpPr>
        <p:spPr>
          <a:xfrm>
            <a:off x="6867525" y="4588013"/>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Inter"/>
                <a:ea typeface="Inter"/>
                <a:cs typeface="Inter"/>
                <a:sym typeface="Inter"/>
              </a:rPr>
              <a:t>•</a:t>
            </a:r>
            <a:endParaRPr/>
          </a:p>
        </p:txBody>
      </p:sp>
      <p:sp>
        <p:nvSpPr>
          <p:cNvPr id="289" name="Google Shape;289;p24"/>
          <p:cNvSpPr txBox="1"/>
          <p:nvPr/>
        </p:nvSpPr>
        <p:spPr>
          <a:xfrm>
            <a:off x="6962775" y="4588966"/>
            <a:ext cx="4267200" cy="82287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CBD5E1"/>
                </a:solidFill>
                <a:latin typeface="Inter"/>
                <a:ea typeface="Inter"/>
                <a:cs typeface="Inter"/>
                <a:sym typeface="Inter"/>
              </a:rPr>
              <a:t>Tăng tốc độ &amp; Giảm phụ thuộc:</a:t>
            </a:r>
            <a:r>
              <a:rPr lang="en-US" sz="1350" b="0" i="0" u="none" strike="noStrike" cap="none">
                <a:solidFill>
                  <a:srgbClr val="CBD5E1"/>
                </a:solidFill>
                <a:latin typeface="Inter"/>
                <a:ea typeface="Inter"/>
                <a:cs typeface="Inter"/>
                <a:sym typeface="Inter"/>
              </a:rPr>
              <a:t> Loại bỏ độ trễ của đường truyền mạng, đảm bảo hệ thống vẫn soát vé được ngay cả khi mất kết nối Internet tạm thời.</a:t>
            </a:r>
            <a:endParaRPr/>
          </a:p>
        </p:txBody>
      </p:sp>
      <p:sp>
        <p:nvSpPr>
          <p:cNvPr id="290" name="Google Shape;290;p2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38BDF8"/>
                </a:solidFill>
                <a:latin typeface="Poppins"/>
                <a:ea typeface="Poppins"/>
                <a:cs typeface="Poppins"/>
                <a:sym typeface="Poppins"/>
              </a:rPr>
              <a:t>KẾT LUẬN &amp; HƯỚNG PHÁT TRIỂN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1516</Words>
  <Application>Microsoft Office PowerPoint</Application>
  <PresentationFormat>Widescreen</PresentationFormat>
  <Paragraphs>97</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Inter SemiBold</vt:lpstr>
      <vt:lpstr>Poppins SemiBold</vt:lpstr>
      <vt:lpstr>Calibri</vt:lpstr>
      <vt:lpstr>Inter</vt:lpstr>
      <vt:lpstr>Poppins</vt:lpstr>
      <vt:lpstr>Arial</vt:lpstr>
      <vt:lpstr>Inter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NGÔ MẠNH KHANG</cp:lastModifiedBy>
  <cp:revision>1</cp:revision>
  <dcterms:modified xsi:type="dcterms:W3CDTF">2026-04-23T21:57:43Z</dcterms:modified>
</cp:coreProperties>
</file>